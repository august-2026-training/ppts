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80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011680"/>
            <a:ext cx="10728655" cy="1828800"/>
          </a:xfrm>
          <a:prstGeom prst="rect">
            <a:avLst/>
          </a:prstGeom>
          <a:noFill/>
        </p:spPr>
        <p:txBody>
          <a:bodyPr wrap="square">
            <a:spAutoFit/>
          </a:bodyPr>
          <a:lstStyle/>
          <a:p>
            <a:pPr>
              <a:defRPr sz="4400" b="1">
                <a:solidFill>
                  <a:srgbClr val="F9FAFB"/>
                </a:solidFill>
                <a:latin typeface="Arial"/>
              </a:defRPr>
            </a:pPr>
            <a:r>
              <a:t>Deep Dive: React Hooks &amp; Optimization</a:t>
            </a:r>
          </a:p>
          <a:p>
            <a:pPr>
              <a:spcBef>
                <a:spcPts val="1200"/>
              </a:spcBef>
              <a:defRPr sz="1800">
                <a:solidFill>
                  <a:srgbClr val="9CA3AF"/>
                </a:solidFill>
                <a:latin typeface="Arial"/>
              </a:defRPr>
            </a:pPr>
            <a:r>
              <a:t>useContext, useMemo, useRef, useCallback, HOC, and Memoization in Plain English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563EB"/>
                </a:solidFill>
                <a:latin typeface="Arial"/>
              </a:defRPr>
            </a:pPr>
            <a:r>
              <a:t>1. Core Foundation: What is Memoization?</a:t>
            </a:r>
          </a:p>
        </p:txBody>
      </p:sp>
      <p:sp>
        <p:nvSpPr>
          <p:cNvPr id="4" name="TextBox 3"/>
          <p:cNvSpPr txBox="1"/>
          <p:nvPr/>
        </p:nvSpPr>
        <p:spPr>
          <a:xfrm>
            <a:off x="731520" y="1645920"/>
            <a:ext cx="10728655" cy="4572000"/>
          </a:xfrm>
          <a:prstGeom prst="rect">
            <a:avLst/>
          </a:prstGeom>
          <a:noFill/>
        </p:spPr>
        <p:txBody>
          <a:bodyPr wrap="square" lIns="0" tIns="0" rIns="0" bIns="0">
            <a:spAutoFit/>
          </a:bodyPr>
          <a:lstStyle/>
          <a:p>
            <a:pPr>
              <a:spcAft>
                <a:spcPts val="1200"/>
              </a:spcAft>
              <a:defRPr sz="1600">
                <a:solidFill>
                  <a:srgbClr val="1F2937"/>
                </a:solidFill>
                <a:latin typeface="Arial"/>
              </a:defRPr>
            </a:pPr>
            <a:r>
              <a:t>Concept: An optimization technique that speeds up applications by caching (storing) the results of expensive function calls.</a:t>
            </a:r>
          </a:p>
          <a:p>
            <a:pPr>
              <a:spcAft>
                <a:spcPts val="1200"/>
              </a:spcAft>
              <a:defRPr sz="1600">
                <a:solidFill>
                  <a:srgbClr val="1F2937"/>
                </a:solidFill>
                <a:latin typeface="Arial"/>
              </a:defRPr>
            </a:pPr>
            <a:r>
              <a:t>Simple Analogy: The Scratchpad — Instead of calculating 378 x 429 in your head every single time someone asks, you solve it once, write the answer on a sticky note, and read it directly next time.</a:t>
            </a:r>
          </a:p>
          <a:p>
            <a:pPr>
              <a:spcAft>
                <a:spcPts val="1200"/>
              </a:spcAft>
              <a:defRPr sz="1600">
                <a:solidFill>
                  <a:srgbClr val="1F2937"/>
                </a:solidFill>
                <a:latin typeface="Arial"/>
              </a:defRPr>
            </a:pPr>
            <a:r>
              <a:t>Why React Needs It:</a:t>
            </a:r>
          </a:p>
          <a:p>
            <a:pPr lvl="1">
              <a:spcAft>
                <a:spcPts val="1200"/>
              </a:spcAft>
              <a:defRPr sz="1600">
                <a:solidFill>
                  <a:srgbClr val="1F2937"/>
                </a:solidFill>
                <a:latin typeface="Arial"/>
              </a:defRPr>
            </a:pPr>
            <a:r>
              <a:t>By default, whenever a component's state updates, React re-runs the entire function.</a:t>
            </a:r>
          </a:p>
          <a:p>
            <a:pPr lvl="1">
              <a:spcAft>
                <a:spcPts val="1200"/>
              </a:spcAft>
              <a:defRPr sz="1600">
                <a:solidFill>
                  <a:srgbClr val="1F2937"/>
                </a:solidFill>
                <a:latin typeface="Arial"/>
              </a:defRPr>
            </a:pPr>
            <a:r>
              <a:t>If that function contains complex math or loops, it freezes the screen.</a:t>
            </a:r>
          </a:p>
          <a:p>
            <a:pPr lvl="1">
              <a:spcAft>
                <a:spcPts val="1200"/>
              </a:spcAft>
              <a:defRPr sz="1600">
                <a:solidFill>
                  <a:srgbClr val="1F2937"/>
                </a:solidFill>
                <a:latin typeface="Arial"/>
              </a:defRPr>
            </a:pPr>
            <a:r>
              <a:t>Memoization lets React skip computations if the inputs haven't changed.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492443"/>
          </a:xfrm>
          <a:prstGeom prst="rect">
            <a:avLst/>
          </a:prstGeom>
          <a:noFill/>
        </p:spPr>
        <p:txBody>
          <a:bodyPr wrap="square" lIns="0" tIns="0" rIns="0" bIns="0">
            <a:spAutoFit/>
          </a:bodyPr>
          <a:lstStyle/>
          <a:p>
            <a:pPr>
              <a:defRPr sz="3200" b="1">
                <a:solidFill>
                  <a:srgbClr val="2563EB"/>
                </a:solidFill>
                <a:latin typeface="Arial"/>
              </a:defRPr>
            </a:pPr>
            <a:r>
              <a:rPr lang="en-US" dirty="0"/>
              <a:t>2</a:t>
            </a:r>
            <a:r>
              <a:rPr dirty="0"/>
              <a:t>. </a:t>
            </a:r>
            <a:r>
              <a:rPr dirty="0" err="1"/>
              <a:t>useMemo</a:t>
            </a:r>
            <a:r>
              <a:rPr dirty="0"/>
              <a:t>() — Caching Expensive Values</a:t>
            </a:r>
          </a:p>
        </p:txBody>
      </p:sp>
      <p:sp>
        <p:nvSpPr>
          <p:cNvPr id="4" name="TextBox 3"/>
          <p:cNvSpPr txBox="1"/>
          <p:nvPr/>
        </p:nvSpPr>
        <p:spPr>
          <a:xfrm>
            <a:off x="731520" y="1371600"/>
            <a:ext cx="10728655" cy="2011680"/>
          </a:xfrm>
          <a:prstGeom prst="rect">
            <a:avLst/>
          </a:prstGeom>
          <a:noFill/>
        </p:spPr>
        <p:txBody>
          <a:bodyPr wrap="square" lIns="0" tIns="0" rIns="0" bIns="0">
            <a:spAutoFit/>
          </a:bodyPr>
          <a:lstStyle/>
          <a:p>
            <a:pPr>
              <a:spcAft>
                <a:spcPts val="1200"/>
              </a:spcAft>
              <a:defRPr sz="1600">
                <a:solidFill>
                  <a:srgbClr val="1F2937"/>
                </a:solidFill>
                <a:latin typeface="Arial"/>
              </a:defRPr>
            </a:pPr>
            <a:r>
              <a:t>The Purpose: Caches the final result value of an expensive calculation so it isn't run again unless inputs change.</a:t>
            </a:r>
          </a:p>
          <a:p>
            <a:pPr>
              <a:spcAft>
                <a:spcPts val="1200"/>
              </a:spcAft>
              <a:defRPr sz="1600">
                <a:solidFill>
                  <a:srgbClr val="1F2937"/>
                </a:solidFill>
                <a:latin typeface="Arial"/>
              </a:defRPr>
            </a:pPr>
            <a:r>
              <a:t>Simple Analogy: Grocery Receipt — You calculate the exact total price of 50 items in your shopping cart. You write down the final price. You don't scan all 50 items again unless you add or remove an item.</a:t>
            </a:r>
          </a:p>
          <a:p>
            <a:pPr>
              <a:spcAft>
                <a:spcPts val="1200"/>
              </a:spcAft>
              <a:defRPr sz="1600">
                <a:solidFill>
                  <a:srgbClr val="1F2937"/>
                </a:solidFill>
                <a:latin typeface="Arial"/>
              </a:defRPr>
            </a:pPr>
            <a:r>
              <a:t>Code Implementation Blueprint:</a:t>
            </a:r>
          </a:p>
        </p:txBody>
      </p:sp>
      <p:sp>
        <p:nvSpPr>
          <p:cNvPr id="5" name="Rectangle 4"/>
          <p:cNvSpPr/>
          <p:nvPr/>
        </p:nvSpPr>
        <p:spPr>
          <a:xfrm>
            <a:off x="731520" y="3474720"/>
            <a:ext cx="10728655" cy="292608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657600"/>
            <a:ext cx="10362895" cy="2560320"/>
          </a:xfrm>
          <a:prstGeom prst="rect">
            <a:avLst/>
          </a:prstGeom>
          <a:noFill/>
        </p:spPr>
        <p:txBody>
          <a:bodyPr wrap="square" lIns="0" tIns="0" rIns="0" bIns="0">
            <a:spAutoFit/>
          </a:bodyPr>
          <a:lstStyle/>
          <a:p>
            <a:pPr>
              <a:defRPr sz="1100">
                <a:solidFill>
                  <a:srgbClr val="0F172A"/>
                </a:solidFill>
                <a:latin typeface="Consolas"/>
              </a:defRPr>
            </a:pPr>
            <a:r>
              <a:t>import { useMemo } from 'react';</a:t>
            </a:r>
            <a:br/>
            <a:br/>
            <a:r>
              <a:t>function ProductList({ items, filterTerm }) {</a:t>
            </a:r>
            <a:br/>
            <a:r>
              <a:t>  // Only loops through 10,000 items when 'items' or 'filterTerm' changes!</a:t>
            </a:r>
            <a:br/>
            <a:r>
              <a:t>  const filteredItems = useMemo(() =&gt; {</a:t>
            </a:r>
            <a:br/>
            <a:r>
              <a:t>    return items.filter(item =&gt; item.includes(filterTerm));</a:t>
            </a:r>
            <a:br/>
            <a:r>
              <a:t>  }, [items, filterTerm]); </a:t>
            </a:r>
            <a:br/>
            <a:br/>
            <a:r>
              <a:t>  return &lt;ul&gt;{filteredItems.map(i =&gt; &lt;li key={i}&gt;{i}&lt;/li&gt;)}&lt;/ul&gt;;</a:t>
            </a:r>
            <a:br/>
            <a: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492443"/>
          </a:xfrm>
          <a:prstGeom prst="rect">
            <a:avLst/>
          </a:prstGeom>
          <a:noFill/>
        </p:spPr>
        <p:txBody>
          <a:bodyPr wrap="square" lIns="0" tIns="0" rIns="0" bIns="0">
            <a:spAutoFit/>
          </a:bodyPr>
          <a:lstStyle/>
          <a:p>
            <a:pPr>
              <a:defRPr sz="3200" b="1">
                <a:solidFill>
                  <a:srgbClr val="2563EB"/>
                </a:solidFill>
                <a:latin typeface="Arial"/>
              </a:defRPr>
            </a:pPr>
            <a:r>
              <a:rPr lang="en-US" dirty="0"/>
              <a:t>3</a:t>
            </a:r>
            <a:r>
              <a:rPr dirty="0"/>
              <a:t>. </a:t>
            </a:r>
            <a:r>
              <a:rPr dirty="0" err="1"/>
              <a:t>useContext</a:t>
            </a:r>
            <a:r>
              <a:rPr dirty="0"/>
              <a:t>() — The Central Intercom System</a:t>
            </a:r>
          </a:p>
        </p:txBody>
      </p:sp>
      <p:sp>
        <p:nvSpPr>
          <p:cNvPr id="4" name="TextBox 3"/>
          <p:cNvSpPr txBox="1"/>
          <p:nvPr/>
        </p:nvSpPr>
        <p:spPr>
          <a:xfrm>
            <a:off x="731520" y="1371600"/>
            <a:ext cx="10728655" cy="2011680"/>
          </a:xfrm>
          <a:prstGeom prst="rect">
            <a:avLst/>
          </a:prstGeom>
          <a:noFill/>
        </p:spPr>
        <p:txBody>
          <a:bodyPr wrap="square" lIns="0" tIns="0" rIns="0" bIns="0">
            <a:spAutoFit/>
          </a:bodyPr>
          <a:lstStyle/>
          <a:p>
            <a:pPr>
              <a:spcAft>
                <a:spcPts val="1200"/>
              </a:spcAft>
              <a:defRPr sz="1600">
                <a:solidFill>
                  <a:srgbClr val="1F2937"/>
                </a:solidFill>
                <a:latin typeface="Arial"/>
              </a:defRPr>
            </a:pPr>
            <a:r>
              <a:t>The Problem: Prop Drilling — Passing data manually down through 5 or 10 layers of components just because a nested button needs it.</a:t>
            </a:r>
          </a:p>
          <a:p>
            <a:pPr>
              <a:spcAft>
                <a:spcPts val="1200"/>
              </a:spcAft>
              <a:defRPr sz="1600">
                <a:solidFill>
                  <a:srgbClr val="1F2937"/>
                </a:solidFill>
                <a:latin typeface="Arial"/>
              </a:defRPr>
            </a:pPr>
            <a:r>
              <a:t>Simple Analogy: The Intercom — Instead of running a physical letter room-to-room through 10 floors of an office building, you broadcast a message over the building's central intercom.</a:t>
            </a:r>
          </a:p>
          <a:p>
            <a:pPr>
              <a:spcAft>
                <a:spcPts val="1200"/>
              </a:spcAft>
              <a:defRPr sz="1600">
                <a:solidFill>
                  <a:srgbClr val="1F2937"/>
                </a:solidFill>
                <a:latin typeface="Arial"/>
              </a:defRPr>
            </a:pPr>
            <a:r>
              <a:t>Code Architecture Blueprint:</a:t>
            </a:r>
          </a:p>
        </p:txBody>
      </p:sp>
      <p:sp>
        <p:nvSpPr>
          <p:cNvPr id="5" name="Rectangle 4"/>
          <p:cNvSpPr/>
          <p:nvPr/>
        </p:nvSpPr>
        <p:spPr>
          <a:xfrm>
            <a:off x="731520" y="3474720"/>
            <a:ext cx="10728655" cy="292608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657600"/>
            <a:ext cx="10362895" cy="2560320"/>
          </a:xfrm>
          <a:prstGeom prst="rect">
            <a:avLst/>
          </a:prstGeom>
          <a:noFill/>
        </p:spPr>
        <p:txBody>
          <a:bodyPr wrap="square" lIns="0" tIns="0" rIns="0" bIns="0">
            <a:spAutoFit/>
          </a:bodyPr>
          <a:lstStyle/>
          <a:p>
            <a:pPr>
              <a:defRPr sz="1100">
                <a:solidFill>
                  <a:srgbClr val="0F172A"/>
                </a:solidFill>
                <a:latin typeface="Consolas"/>
              </a:defRPr>
            </a:pPr>
            <a:r>
              <a:t>// 1. Create a radio tower channel</a:t>
            </a:r>
            <a:br/>
            <a:r>
              <a:t>const ThemeContext = createContext('light');</a:t>
            </a:r>
            <a:br/>
            <a:br/>
            <a:r>
              <a:t>// 2. Broadcast the signal at the very top level</a:t>
            </a:r>
            <a:br/>
            <a:r>
              <a:t>&lt;ThemeContext.Provider value="dark"&gt;</a:t>
            </a:r>
            <a:br/>
            <a:r>
              <a:t>  &lt;Dashboard /&gt;</a:t>
            </a:r>
            <a:br/>
            <a:r>
              <a:t>&lt;/ThemeContext.Provider&gt;</a:t>
            </a:r>
            <a:br/>
            <a:br/>
            <a:r>
              <a:t>// 3. Tune into the channel directly from any deep sub-component</a:t>
            </a:r>
            <a:br/>
            <a:r>
              <a:t>function DeepNestedButton() {</a:t>
            </a:r>
            <a:br/>
            <a:r>
              <a:t>  const theme = useContext(ThemeContext);</a:t>
            </a:r>
            <a:br/>
            <a:r>
              <a:t>  return &lt;button className={theme}&gt;Direct Wireless Access&lt;/button&gt;;</a:t>
            </a:r>
            <a:br/>
            <a: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563EB"/>
                </a:solidFill>
                <a:latin typeface="Arial"/>
              </a:defRPr>
            </a:pPr>
            <a:r>
              <a:t>4. useCallback() — Caching Entire Functions</a:t>
            </a:r>
          </a:p>
        </p:txBody>
      </p:sp>
      <p:sp>
        <p:nvSpPr>
          <p:cNvPr id="4" name="TextBox 3"/>
          <p:cNvSpPr txBox="1"/>
          <p:nvPr/>
        </p:nvSpPr>
        <p:spPr>
          <a:xfrm>
            <a:off x="731520" y="1371600"/>
            <a:ext cx="10728655" cy="2011680"/>
          </a:xfrm>
          <a:prstGeom prst="rect">
            <a:avLst/>
          </a:prstGeom>
          <a:noFill/>
        </p:spPr>
        <p:txBody>
          <a:bodyPr wrap="square" lIns="0" tIns="0" rIns="0" bIns="0">
            <a:spAutoFit/>
          </a:bodyPr>
          <a:lstStyle/>
          <a:p>
            <a:pPr>
              <a:spcAft>
                <a:spcPts val="1200"/>
              </a:spcAft>
              <a:defRPr sz="1600">
                <a:solidFill>
                  <a:srgbClr val="1F2937"/>
                </a:solidFill>
                <a:latin typeface="Arial"/>
              </a:defRPr>
            </a:pPr>
            <a:r>
              <a:rPr dirty="0"/>
              <a:t>The Purpose: Caches the executable function definition itself. Prevents React from recreating a new function instance on every render.</a:t>
            </a:r>
          </a:p>
          <a:p>
            <a:pPr>
              <a:spcAft>
                <a:spcPts val="1200"/>
              </a:spcAft>
              <a:defRPr sz="1600">
                <a:solidFill>
                  <a:srgbClr val="1F2937"/>
                </a:solidFill>
                <a:latin typeface="Arial"/>
              </a:defRPr>
            </a:pPr>
            <a:r>
              <a:rPr dirty="0"/>
              <a:t>Simple Analogy: Pre-Printed Coupon — Handing a child a pre-printed discount voucher instead of standing there manually rewriting the entire voucher text line-by-line every single second.</a:t>
            </a:r>
          </a:p>
          <a:p>
            <a:pPr>
              <a:spcAft>
                <a:spcPts val="1200"/>
              </a:spcAft>
              <a:defRPr sz="1600">
                <a:solidFill>
                  <a:srgbClr val="1F2937"/>
                </a:solidFill>
                <a:latin typeface="Arial"/>
              </a:defRPr>
            </a:pPr>
            <a:r>
              <a:rPr dirty="0"/>
              <a:t>Code Implementation Blueprint:</a:t>
            </a:r>
          </a:p>
        </p:txBody>
      </p:sp>
      <p:sp>
        <p:nvSpPr>
          <p:cNvPr id="5" name="Rectangle 4"/>
          <p:cNvSpPr/>
          <p:nvPr/>
        </p:nvSpPr>
        <p:spPr>
          <a:xfrm>
            <a:off x="731520" y="3474720"/>
            <a:ext cx="10728655" cy="292608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657600"/>
            <a:ext cx="10362895" cy="2560320"/>
          </a:xfrm>
          <a:prstGeom prst="rect">
            <a:avLst/>
          </a:prstGeom>
          <a:noFill/>
        </p:spPr>
        <p:txBody>
          <a:bodyPr wrap="square" lIns="0" tIns="0" rIns="0" bIns="0">
            <a:spAutoFit/>
          </a:bodyPr>
          <a:lstStyle/>
          <a:p>
            <a:pPr>
              <a:defRPr sz="1100">
                <a:solidFill>
                  <a:srgbClr val="0F172A"/>
                </a:solidFill>
                <a:latin typeface="Consolas"/>
              </a:defRPr>
            </a:pPr>
            <a:r>
              <a:t>import { useState, useCallback } from 'react';</a:t>
            </a:r>
            <a:br/>
            <a:br/>
            <a:r>
              <a:t>function ParentComponent() {</a:t>
            </a:r>
            <a:br/>
            <a:r>
              <a:t>  const [count, setCount] = useState(0);</a:t>
            </a:r>
            <a:br/>
            <a:br/>
            <a:r>
              <a:t>  // This function structure is frozen! It won't get recreated on re-renders.</a:t>
            </a:r>
            <a:br/>
            <a:r>
              <a:t>  const handleAction = useCallback(() =&gt; {</a:t>
            </a:r>
            <a:br/>
            <a:r>
              <a:t>    console.log("Button clicked!");</a:t>
            </a:r>
            <a:br/>
            <a:r>
              <a:t>  }, []); // Empty dependency array = frozen forever</a:t>
            </a:r>
            <a:br/>
            <a:br/>
            <a:r>
              <a:t>  return &lt;ExpensiveChild onClick={handleAction} /&gt;;</a:t>
            </a:r>
            <a:br/>
            <a: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563EB"/>
                </a:solidFill>
                <a:latin typeface="Arial"/>
              </a:defRPr>
            </a:pPr>
            <a:r>
              <a:t>5. useRef() — The Secret Pocket Notebook</a:t>
            </a:r>
          </a:p>
        </p:txBody>
      </p:sp>
      <p:sp>
        <p:nvSpPr>
          <p:cNvPr id="4" name="TextBox 3"/>
          <p:cNvSpPr txBox="1"/>
          <p:nvPr/>
        </p:nvSpPr>
        <p:spPr>
          <a:xfrm>
            <a:off x="731520" y="1371600"/>
            <a:ext cx="10728655" cy="2011680"/>
          </a:xfrm>
          <a:prstGeom prst="rect">
            <a:avLst/>
          </a:prstGeom>
          <a:noFill/>
        </p:spPr>
        <p:txBody>
          <a:bodyPr wrap="square" lIns="0" tIns="0" rIns="0" bIns="0">
            <a:spAutoFit/>
          </a:bodyPr>
          <a:lstStyle/>
          <a:p>
            <a:pPr>
              <a:spcAft>
                <a:spcPts val="1200"/>
              </a:spcAft>
              <a:defRPr sz="1600">
                <a:solidFill>
                  <a:srgbClr val="1F2937"/>
                </a:solidFill>
                <a:latin typeface="Arial"/>
              </a:defRPr>
            </a:pPr>
            <a:r>
              <a:rPr dirty="0"/>
              <a:t>The Purpose: Stores a piece of data that persists across renders, but altering it does NOT force a visual page re-render. Also grips HTML items directly.</a:t>
            </a:r>
          </a:p>
          <a:p>
            <a:pPr>
              <a:spcAft>
                <a:spcPts val="1200"/>
              </a:spcAft>
              <a:defRPr sz="1600">
                <a:solidFill>
                  <a:srgbClr val="1F2937"/>
                </a:solidFill>
                <a:latin typeface="Arial"/>
              </a:defRPr>
            </a:pPr>
            <a:r>
              <a:rPr dirty="0"/>
              <a:t>Simple Analogy: Tally Sheet — Scribbling a count secretly on a paper sheet in your jacket pocket. You update the tally, but doing so never forces you to go change your clothes or redraw the room layout.</a:t>
            </a:r>
          </a:p>
          <a:p>
            <a:pPr>
              <a:spcAft>
                <a:spcPts val="1200"/>
              </a:spcAft>
              <a:defRPr sz="1600">
                <a:solidFill>
                  <a:srgbClr val="1F2937"/>
                </a:solidFill>
                <a:latin typeface="Arial"/>
              </a:defRPr>
            </a:pPr>
            <a:r>
              <a:rPr dirty="0"/>
              <a:t>Code Implementation Blueprint:</a:t>
            </a:r>
          </a:p>
        </p:txBody>
      </p:sp>
      <p:sp>
        <p:nvSpPr>
          <p:cNvPr id="5" name="Rectangle 4"/>
          <p:cNvSpPr/>
          <p:nvPr/>
        </p:nvSpPr>
        <p:spPr>
          <a:xfrm>
            <a:off x="731520" y="3474720"/>
            <a:ext cx="10728655" cy="292608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657600"/>
            <a:ext cx="10362895" cy="2560320"/>
          </a:xfrm>
          <a:prstGeom prst="rect">
            <a:avLst/>
          </a:prstGeom>
          <a:noFill/>
        </p:spPr>
        <p:txBody>
          <a:bodyPr wrap="square" lIns="0" tIns="0" rIns="0" bIns="0">
            <a:spAutoFit/>
          </a:bodyPr>
          <a:lstStyle/>
          <a:p>
            <a:pPr>
              <a:defRPr sz="1100">
                <a:solidFill>
                  <a:srgbClr val="0F172A"/>
                </a:solidFill>
                <a:latin typeface="Consolas"/>
              </a:defRPr>
            </a:pPr>
            <a:r>
              <a:rPr dirty="0"/>
              <a:t>import { </a:t>
            </a:r>
            <a:r>
              <a:rPr dirty="0" err="1"/>
              <a:t>useRef</a:t>
            </a:r>
            <a:r>
              <a:rPr dirty="0"/>
              <a:t> } from 'react';</a:t>
            </a:r>
            <a:br>
              <a:rPr dirty="0"/>
            </a:br>
            <a:br>
              <a:rPr dirty="0"/>
            </a:br>
            <a:r>
              <a:rPr dirty="0"/>
              <a:t>function </a:t>
            </a:r>
            <a:r>
              <a:rPr dirty="0" err="1"/>
              <a:t>TimerComponent</a:t>
            </a:r>
            <a:r>
              <a:rPr dirty="0"/>
              <a:t>() {</a:t>
            </a:r>
            <a:br>
              <a:rPr dirty="0"/>
            </a:br>
            <a:r>
              <a:rPr dirty="0"/>
              <a:t>  const </a:t>
            </a:r>
            <a:r>
              <a:rPr dirty="0" err="1"/>
              <a:t>clickCount</a:t>
            </a:r>
            <a:r>
              <a:rPr dirty="0"/>
              <a:t> = </a:t>
            </a:r>
            <a:r>
              <a:rPr dirty="0" err="1"/>
              <a:t>useRef</a:t>
            </a:r>
            <a:r>
              <a:rPr dirty="0"/>
              <a:t>(0); // Secret scratchpad</a:t>
            </a:r>
            <a:br>
              <a:rPr dirty="0"/>
            </a:br>
            <a:r>
              <a:rPr dirty="0"/>
              <a:t>  const </a:t>
            </a:r>
            <a:r>
              <a:rPr dirty="0" err="1"/>
              <a:t>inputRef</a:t>
            </a:r>
            <a:r>
              <a:rPr dirty="0"/>
              <a:t> = </a:t>
            </a:r>
            <a:r>
              <a:rPr dirty="0" err="1"/>
              <a:t>useRef</a:t>
            </a:r>
            <a:r>
              <a:rPr dirty="0"/>
              <a:t>(null);   // HTML lasso anchor</a:t>
            </a:r>
            <a:br>
              <a:rPr dirty="0"/>
            </a:br>
            <a:br>
              <a:rPr dirty="0"/>
            </a:br>
            <a:r>
              <a:rPr dirty="0"/>
              <a:t>  const </a:t>
            </a:r>
            <a:r>
              <a:rPr dirty="0" err="1"/>
              <a:t>handleClick</a:t>
            </a:r>
            <a:r>
              <a:rPr dirty="0"/>
              <a:t> = () =&gt; {</a:t>
            </a:r>
            <a:br>
              <a:rPr dirty="0"/>
            </a:br>
            <a:r>
              <a:rPr dirty="0"/>
              <a:t>    </a:t>
            </a:r>
            <a:r>
              <a:rPr dirty="0" err="1"/>
              <a:t>clickCount.current</a:t>
            </a:r>
            <a:r>
              <a:rPr dirty="0"/>
              <a:t> += 1; // Updates data instantly, but ZERO page re-render!</a:t>
            </a:r>
            <a:br>
              <a:rPr dirty="0"/>
            </a:br>
            <a:r>
              <a:rPr dirty="0"/>
              <a:t>    </a:t>
            </a:r>
            <a:r>
              <a:rPr dirty="0" err="1"/>
              <a:t>inputRef.current.focus</a:t>
            </a:r>
            <a:r>
              <a:rPr dirty="0"/>
              <a:t>(); // Reaches down and physically flashes the text input box</a:t>
            </a:r>
            <a:br>
              <a:rPr dirty="0"/>
            </a:br>
            <a:r>
              <a:rPr dirty="0"/>
              <a:t>  };</a:t>
            </a:r>
            <a:br>
              <a:rPr dirty="0"/>
            </a:br>
            <a:br>
              <a:rPr dirty="0"/>
            </a:br>
            <a:r>
              <a:rPr dirty="0"/>
              <a:t>  return &lt;input ref={</a:t>
            </a:r>
            <a:r>
              <a:rPr dirty="0" err="1"/>
              <a:t>inputRef</a:t>
            </a:r>
            <a:r>
              <a:rPr dirty="0"/>
              <a:t>} type="text" </a:t>
            </a:r>
            <a:r>
              <a:rPr dirty="0" err="1"/>
              <a:t>onClick</a:t>
            </a:r>
            <a:r>
              <a:rPr dirty="0"/>
              <a:t>={</a:t>
            </a:r>
            <a:r>
              <a:rPr dirty="0" err="1"/>
              <a:t>handleClick</a:t>
            </a:r>
            <a:r>
              <a:rPr dirty="0"/>
              <a:t>} /&gt;;</a:t>
            </a:r>
            <a:br>
              <a:rPr dirty="0"/>
            </a:b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563EB"/>
                </a:solidFill>
                <a:latin typeface="Arial"/>
              </a:defRPr>
            </a:pPr>
            <a:r>
              <a:t>6. Higher-Order Components (HOC)</a:t>
            </a:r>
          </a:p>
        </p:txBody>
      </p:sp>
      <p:sp>
        <p:nvSpPr>
          <p:cNvPr id="4" name="TextBox 3"/>
          <p:cNvSpPr txBox="1"/>
          <p:nvPr/>
        </p:nvSpPr>
        <p:spPr>
          <a:xfrm>
            <a:off x="731520" y="1371600"/>
            <a:ext cx="10728655" cy="2011680"/>
          </a:xfrm>
          <a:prstGeom prst="rect">
            <a:avLst/>
          </a:prstGeom>
          <a:noFill/>
        </p:spPr>
        <p:txBody>
          <a:bodyPr wrap="square" lIns="0" tIns="0" rIns="0" bIns="0">
            <a:spAutoFit/>
          </a:bodyPr>
          <a:lstStyle/>
          <a:p>
            <a:pPr>
              <a:spcAft>
                <a:spcPts val="1200"/>
              </a:spcAft>
              <a:defRPr sz="1600">
                <a:solidFill>
                  <a:srgbClr val="1F2937"/>
                </a:solidFill>
                <a:latin typeface="Arial"/>
              </a:defRPr>
            </a:pPr>
            <a:r>
              <a:t>The Purpose: An advanced design pattern that accepts a standard component as an input, wraps it with extra safety controls or logic, and outputs an upgraded version.</a:t>
            </a:r>
          </a:p>
          <a:p>
            <a:pPr>
              <a:spcAft>
                <a:spcPts val="1200"/>
              </a:spcAft>
              <a:defRPr sz="1600">
                <a:solidFill>
                  <a:srgbClr val="1F2937"/>
                </a:solidFill>
                <a:latin typeface="Arial"/>
              </a:defRPr>
            </a:pPr>
            <a:r>
              <a:t>Simple Analogy: Airport Security Gate — You guide an ordinary traveler into a security scanner corridor. After checking parameters, out pops an authorized passenger cleared to fly.</a:t>
            </a:r>
          </a:p>
          <a:p>
            <a:pPr>
              <a:spcAft>
                <a:spcPts val="1200"/>
              </a:spcAft>
              <a:defRPr sz="1600">
                <a:solidFill>
                  <a:srgbClr val="1F2937"/>
                </a:solidFill>
                <a:latin typeface="Arial"/>
              </a:defRPr>
            </a:pPr>
            <a:r>
              <a:t>Code Implementation Blueprint:</a:t>
            </a:r>
          </a:p>
        </p:txBody>
      </p:sp>
      <p:sp>
        <p:nvSpPr>
          <p:cNvPr id="5" name="Rectangle 4"/>
          <p:cNvSpPr/>
          <p:nvPr/>
        </p:nvSpPr>
        <p:spPr>
          <a:xfrm>
            <a:off x="731520" y="3474720"/>
            <a:ext cx="10728655" cy="292608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657600"/>
            <a:ext cx="10362895" cy="2560320"/>
          </a:xfrm>
          <a:prstGeom prst="rect">
            <a:avLst/>
          </a:prstGeom>
          <a:noFill/>
        </p:spPr>
        <p:txBody>
          <a:bodyPr wrap="square" lIns="0" tIns="0" rIns="0" bIns="0">
            <a:spAutoFit/>
          </a:bodyPr>
          <a:lstStyle/>
          <a:p>
            <a:pPr>
              <a:defRPr sz="1100">
                <a:solidFill>
                  <a:srgbClr val="0F172A"/>
                </a:solidFill>
                <a:latin typeface="Consolas"/>
              </a:defRPr>
            </a:pPr>
            <a:r>
              <a:t>// The HOC blueprint wrapper</a:t>
            </a:r>
            <a:br/>
            <a:r>
              <a:t>function withAdminCheck(WrappedComponent) {</a:t>
            </a:r>
            <a:br/>
            <a:r>
              <a:t>  return function AdminSecureLayer(props) {</a:t>
            </a:r>
            <a:br/>
            <a:r>
              <a:t>    const isAdmin = checkUserRole(); </a:t>
            </a:r>
            <a:br/>
            <a:r>
              <a:t>    if (!isAdmin) return &lt;p&gt;Access Denied! Admins Only.&lt;/p&gt;;</a:t>
            </a:r>
            <a:br/>
            <a:r>
              <a:t>    return &lt;WrappedComponent {...props} /&gt;; // Returns upgraded safe component</a:t>
            </a:r>
            <a:br/>
            <a:r>
              <a:t>  };</a:t>
            </a:r>
            <a:br/>
            <a:r>
              <a:t>}</a:t>
            </a:r>
            <a:br/>
            <a:br/>
            <a:r>
              <a:t>// How to deploy it</a:t>
            </a:r>
            <a:br/>
            <a:r>
              <a:t>const SecureDashboard = withAdminCheck(DashboardComponent);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F9FAFB"/>
                </a:solidFill>
                <a:latin typeface="Arial"/>
              </a:defRPr>
            </a:pPr>
            <a:r>
              <a:t>Architectural Quick-Reference Cheat Sheet</a:t>
            </a:r>
          </a:p>
        </p:txBody>
      </p:sp>
      <p:sp>
        <p:nvSpPr>
          <p:cNvPr id="4" name="TextBox 3"/>
          <p:cNvSpPr txBox="1"/>
          <p:nvPr/>
        </p:nvSpPr>
        <p:spPr>
          <a:xfrm>
            <a:off x="731520" y="1645920"/>
            <a:ext cx="10728655" cy="4572000"/>
          </a:xfrm>
          <a:prstGeom prst="rect">
            <a:avLst/>
          </a:prstGeom>
          <a:noFill/>
        </p:spPr>
        <p:txBody>
          <a:bodyPr wrap="square" lIns="0" tIns="0" rIns="0" bIns="0">
            <a:spAutoFit/>
          </a:bodyPr>
          <a:lstStyle/>
          <a:p>
            <a:pPr>
              <a:spcAft>
                <a:spcPts val="1200"/>
              </a:spcAft>
              <a:defRPr sz="1500">
                <a:solidFill>
                  <a:srgbClr val="F9FAFB"/>
                </a:solidFill>
                <a:latin typeface="Arial"/>
              </a:defRPr>
            </a:pPr>
            <a:r>
              <a:t>Memoization ─── Generic Concept ── Caches deep logic outputs via unique identifier records</a:t>
            </a:r>
          </a:p>
          <a:p>
            <a:pPr>
              <a:spcAft>
                <a:spcPts val="1200"/>
              </a:spcAft>
              <a:defRPr sz="1500">
                <a:solidFill>
                  <a:srgbClr val="F9FAFB"/>
                </a:solidFill>
                <a:latin typeface="Arial"/>
              </a:defRPr>
            </a:pPr>
            <a:r>
              <a:t>useMemo() ──── React Hook ───── Caches the raw VALUE outcome of complicated calculations</a:t>
            </a:r>
          </a:p>
          <a:p>
            <a:pPr>
              <a:spcAft>
                <a:spcPts val="1200"/>
              </a:spcAft>
              <a:defRPr sz="1500">
                <a:solidFill>
                  <a:srgbClr val="F9FAFB"/>
                </a:solidFill>
                <a:latin typeface="Arial"/>
              </a:defRPr>
            </a:pPr>
            <a:r>
              <a:t>useCallback() ── React Hook ───── Caches an entire operational FUNCTION structure definition</a:t>
            </a:r>
          </a:p>
          <a:p>
            <a:pPr>
              <a:spcAft>
                <a:spcPts val="1200"/>
              </a:spcAft>
              <a:defRPr sz="1500">
                <a:solidFill>
                  <a:srgbClr val="F9FAFB"/>
                </a:solidFill>
                <a:latin typeface="Arial"/>
              </a:defRPr>
            </a:pPr>
            <a:r>
              <a:t>useRef() ───── React Hook ───── Stores mutable details secretly with ZERO screen re-render triggers</a:t>
            </a:r>
          </a:p>
          <a:p>
            <a:pPr>
              <a:spcAft>
                <a:spcPts val="1200"/>
              </a:spcAft>
              <a:defRPr sz="1500">
                <a:solidFill>
                  <a:srgbClr val="F9FAFB"/>
                </a:solidFill>
                <a:latin typeface="Arial"/>
              </a:defRPr>
            </a:pPr>
            <a:r>
              <a:t>useContext() ── React Hook ───── Wireless audio intercom bypassing multi-floor prop drilling</a:t>
            </a:r>
          </a:p>
          <a:p>
            <a:pPr>
              <a:spcAft>
                <a:spcPts val="1200"/>
              </a:spcAft>
              <a:defRPr sz="1500">
                <a:solidFill>
                  <a:srgbClr val="F9FAFB"/>
                </a:solidFill>
                <a:latin typeface="Arial"/>
              </a:defRPr>
            </a:pPr>
            <a:r>
              <a:t>HOC Wrapper ── Pattern ──────── Airport security scanner injecting features into generic components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TotalTime>
  <Words>622</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DELL</cp:lastModifiedBy>
  <cp:revision>3</cp:revision>
  <dcterms:created xsi:type="dcterms:W3CDTF">2013-01-27T09:14:16Z</dcterms:created>
  <dcterms:modified xsi:type="dcterms:W3CDTF">2026-09-17T12:26:22Z</dcterms:modified>
  <cp:category/>
</cp:coreProperties>
</file>