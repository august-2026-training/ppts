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86" r:id="rId5"/>
    <p:sldId id="287" r:id="rId6"/>
    <p:sldId id="266" r:id="rId7"/>
    <p:sldId id="267" r:id="rId8"/>
    <p:sldId id="268" r:id="rId9"/>
    <p:sldId id="264" r:id="rId10"/>
    <p:sldId id="269" r:id="rId11"/>
    <p:sldId id="270" r:id="rId12"/>
    <p:sldId id="271" r:id="rId13"/>
    <p:sldId id="272" r:id="rId14"/>
    <p:sldId id="273" r:id="rId15"/>
    <p:sldId id="281" r:id="rId16"/>
    <p:sldId id="282" r:id="rId17"/>
    <p:sldId id="283" r:id="rId18"/>
    <p:sldId id="284" r:id="rId19"/>
    <p:sldId id="285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D1933-7482-4DE0-8CB4-0DF70E5BC2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854054-33D1-42EC-B4DB-DA2E647BB0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58FB57-AF13-46AB-9AC5-81334A567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99878-BF2B-4CCB-AFDB-C7A5441D471F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9EEAC5-95AF-4CF7-B71E-E7CB2A543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602568-19FA-4E80-A7D6-D91B32EC5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33BEE-673A-446F-B9DF-2E4C9082EC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3216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0483D-13DD-4C26-A037-BDE6495B7B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A7276-D3FD-41A1-B8FA-907C89D3A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106786-211A-4F76-832A-2FDA42EEE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99878-BF2B-4CCB-AFDB-C7A5441D471F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8866B7-C8EF-4EED-8A80-554F46DED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A88A1-D802-4A7C-BFF9-18D812167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33BEE-673A-446F-B9DF-2E4C9082EC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8886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AF38B-F481-4B75-BFB7-070665660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54F0E3-8E32-4D65-A4B9-6911D33D5B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48B00-7BA0-4CB3-8738-969AFA1BA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99878-BF2B-4CCB-AFDB-C7A5441D471F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2AF0C1-84A0-487D-8283-553F93BBF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3D5E42-197E-4531-AB14-C61C2B621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33BEE-673A-446F-B9DF-2E4C9082EC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525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DF525-9979-47C8-88B4-A98D4466B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918AA-F98F-40EE-BA89-9BE03A86E5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E58C80-9577-4DFC-9451-31CB263D82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926DCB-5012-4EF2-9AC8-F890CA1A0F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99878-BF2B-4CCB-AFDB-C7A5441D471F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FB2605-7FBC-4B24-8119-DA0D1152B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55FD5-CE79-4957-80FD-EBC0B94EB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33BEE-673A-446F-B9DF-2E4C9082EC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8554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86F71-AA8F-4933-8F88-F7AAB1C08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416FD0-92E6-4723-BA97-65E8234277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6551E7-C5D2-4058-9C49-1B6BD18FAD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727905-14DA-4BC9-B906-D51843E353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CECC32-0A03-49D3-BC8F-524425137D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D377F9-8761-48C5-9888-3B11FF915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99878-BF2B-4CCB-AFDB-C7A5441D471F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0DFD26-EF85-450C-8713-896BDAD8E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B66A78-054E-456A-A28D-793E44A9C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33BEE-673A-446F-B9DF-2E4C9082EC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2130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C9677-545F-46EE-887A-4B3907150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3568D9-D553-4579-9025-E7D1A3E75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99878-BF2B-4CCB-AFDB-C7A5441D471F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41370E-4D09-4D92-B538-BE3C806CC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C76B1D-5545-48BC-B93C-2B4179D43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33BEE-673A-446F-B9DF-2E4C9082EC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2871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14731F-0E75-47BC-AE06-4B948CFB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99878-BF2B-4CCB-AFDB-C7A5441D471F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37F146-1DA7-44A8-B671-D79EC7F47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3F8063-5D0D-4393-92BC-F31BDFD65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33BEE-673A-446F-B9DF-2E4C9082EC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16008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C0C94-A66F-4DE5-AC5F-EE05D9D84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7AEE2-3028-4E14-A5AB-60653D31E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FDE64D-637C-4D54-9385-CE6A7B16D5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298E7C-FF4B-4D55-9E4A-33D26683C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99878-BF2B-4CCB-AFDB-C7A5441D471F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0DE797-5EF1-4AF1-AD3A-6C4CB4B78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6CD395-A278-4651-8ECF-D9CFAAAAE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33BEE-673A-446F-B9DF-2E4C9082EC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264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18BFF-D2FA-4857-894A-51973FC98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F1269F-D2FA-490E-95AB-A83D5BBB51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9ECB49-32B2-47D2-BCB6-A861F5F4E1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6DED63-FB6A-42B6-B2C7-B1EEA0AB9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99878-BF2B-4CCB-AFDB-C7A5441D471F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77E663-DB9C-4C3C-8918-E4AD88248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1470C8-2E4B-4291-B397-6C25DC776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33BEE-673A-446F-B9DF-2E4C9082EC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0838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CB5F1-50B5-44EE-8FD8-801ABD142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035ECB-EFBC-4DF6-BA81-8394820D48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33A8B8-3B41-4C92-B5BD-8D200965D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99878-BF2B-4CCB-AFDB-C7A5441D471F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B8C6C2-E873-44BE-B5EB-A8AB243CE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51DAC7-3208-40AC-9BD5-6D93876BF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33BEE-673A-446F-B9DF-2E4C9082EC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2939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83E7C05-B386-4743-812B-E5B8C647AE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515692-8769-4171-8733-766B97CEE4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419898-D4A8-465A-B390-2571B184C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99878-BF2B-4CCB-AFDB-C7A5441D471F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A23138-3C5D-4CB9-9030-00A393B03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4F012-6CAA-43E4-A381-DF88DE85B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33BEE-673A-446F-B9DF-2E4C9082EC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3771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816892-4EE4-440A-B006-8524811B7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82E334-9E4B-4BA7-9EFA-506A4633EE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18177-749F-4ED2-AEF2-4E1D82C974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C99878-BF2B-4CCB-AFDB-C7A5441D471F}" type="datetimeFigureOut">
              <a:rPr lang="en-IN" smtClean="0"/>
              <a:t>30-08-2026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F3BDC3-BCEC-4ABB-B5BC-B4C98AB3F3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004585-FA6A-4011-ACFA-F2028C7FA2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133BEE-673A-446F-B9DF-2E4C9082EC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7984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B0EA7-2754-4E8B-9930-558AB44659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Spring Boot 4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D19710-C40C-49F5-878E-901F5EE58D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4597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4CFE7-22E4-4E72-BBAC-31E90EB86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Topics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E6A2A-86E8-4DA9-82CB-B0D41B2A00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Spring Data JPA </a:t>
            </a:r>
          </a:p>
          <a:p>
            <a:pPr lvl="1"/>
            <a:r>
              <a:rPr lang="en-US" dirty="0"/>
              <a:t>@Transactional</a:t>
            </a:r>
          </a:p>
          <a:p>
            <a:pPr lvl="1"/>
            <a:r>
              <a:rPr lang="en-US" dirty="0" err="1"/>
              <a:t>Inheritence</a:t>
            </a:r>
            <a:r>
              <a:rPr lang="en-US" dirty="0"/>
              <a:t> Strategies</a:t>
            </a:r>
          </a:p>
          <a:p>
            <a:pPr lvl="1"/>
            <a:r>
              <a:rPr lang="en-US" dirty="0"/>
              <a:t>Pagination, Sorting </a:t>
            </a:r>
            <a:r>
              <a:rPr lang="en-US" dirty="0" err="1"/>
              <a:t>anf</a:t>
            </a:r>
            <a:r>
              <a:rPr lang="en-US" dirty="0"/>
              <a:t> Filtering</a:t>
            </a:r>
          </a:p>
          <a:p>
            <a:r>
              <a:rPr lang="en-US" dirty="0"/>
              <a:t>Spring Boot 4 Profiles</a:t>
            </a:r>
          </a:p>
          <a:p>
            <a:r>
              <a:rPr lang="en-IN" dirty="0"/>
              <a:t>Introduction to Microservices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0393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ACE7A-4858-4DC8-91BE-AA02DDD45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Data JPA - @Transactional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95FC7-E8ED-4843-9950-6AD30E0C08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a Transaction?</a:t>
            </a:r>
          </a:p>
          <a:p>
            <a:pPr lvl="1"/>
            <a:r>
              <a:rPr lang="en-US" dirty="0"/>
              <a:t>A transaction is a group of database operations treated as </a:t>
            </a:r>
            <a:r>
              <a:rPr lang="en-US" b="1" dirty="0"/>
              <a:t>one unit of work</a:t>
            </a:r>
            <a:r>
              <a:rPr lang="en-US" dirty="0"/>
              <a:t>.</a:t>
            </a:r>
          </a:p>
          <a:p>
            <a:r>
              <a:rPr lang="en-IN" b="1" dirty="0"/>
              <a:t>ACID Properties</a:t>
            </a:r>
          </a:p>
          <a:p>
            <a:pPr lvl="1"/>
            <a:r>
              <a:rPr lang="en-US" b="1" dirty="0"/>
              <a:t>Atomicity</a:t>
            </a:r>
            <a:r>
              <a:rPr lang="en-US" dirty="0"/>
              <a:t> — All or nothing</a:t>
            </a:r>
          </a:p>
          <a:p>
            <a:pPr lvl="1"/>
            <a:r>
              <a:rPr lang="en-US" b="1" dirty="0"/>
              <a:t>Consistency</a:t>
            </a:r>
            <a:r>
              <a:rPr lang="en-US" dirty="0"/>
              <a:t> — Database remains valid</a:t>
            </a:r>
          </a:p>
          <a:p>
            <a:pPr lvl="1"/>
            <a:r>
              <a:rPr lang="en-US" b="1" dirty="0"/>
              <a:t>Isolation</a:t>
            </a:r>
            <a:r>
              <a:rPr lang="en-US" dirty="0"/>
              <a:t> — Transactions don't improperly interfere</a:t>
            </a:r>
          </a:p>
          <a:p>
            <a:pPr lvl="1"/>
            <a:r>
              <a:rPr lang="en-US" b="1" dirty="0"/>
              <a:t>Durability</a:t>
            </a:r>
            <a:r>
              <a:rPr lang="en-US" dirty="0"/>
              <a:t> — Committed data survives failures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1766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F89627-522A-46E2-8821-FCE89EC2B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@Transactional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0F67921-3EA6-4238-8CE0-3FC1E2BFD74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800421"/>
            <a:ext cx="10875745" cy="640175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@Service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public class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UserService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>
                <a:solidFill>
                  <a:srgbClr val="0D0D0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@Transactional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>
                <a:solidFill>
                  <a:srgbClr val="0D0D0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public void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createUser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(User user)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>
                <a:solidFill>
                  <a:srgbClr val="0D0D0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userRepository.save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(user);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>
                <a:solidFill>
                  <a:srgbClr val="0D0D0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auditRepository.save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(new Audit(...));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>
                <a:solidFill>
                  <a:srgbClr val="0D0D0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-apple-system-body"/>
              </a:rPr>
              <a:t>Both operations are treated as 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-apple-system-body"/>
              </a:rPr>
              <a:t>one transaction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-apple-system-body"/>
              </a:rPr>
              <a:t>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BEGIN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↓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Save User ✓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↓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Save Audit ✓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↓ 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COMMIT 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-apple-system-body"/>
              </a:rPr>
              <a:t>If an unchecked exception occurs: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0" indent="0">
              <a:lnSpc>
                <a:spcPct val="100000"/>
              </a:lnSpc>
              <a:buNone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BEGIN 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↓ 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Save User ✓ 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↓ 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Save Audit ✗ 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↓ </a:t>
            </a:r>
          </a:p>
          <a:p>
            <a:pPr marL="0" lvl="0" indent="0">
              <a:lnSpc>
                <a:spcPct val="100000"/>
              </a:lnSpc>
              <a:buNone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ROLLBACK </a:t>
            </a: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-apple-system-body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6773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A96A1-6D94-4858-9EF7-5C0A49CBDC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@Transactional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089B7-54F7-4DE3-AA7C-6F8C6499F2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b="1" dirty="0">
                <a:solidFill>
                  <a:srgbClr val="0D0D0D"/>
                </a:solidFill>
                <a:latin typeface="-apple-system-body"/>
              </a:rPr>
              <a:t>Common Options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0D0D0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@Transactional( </a:t>
            </a:r>
            <a:r>
              <a:rPr lang="en-US" altLang="en-US" dirty="0" err="1">
                <a:solidFill>
                  <a:srgbClr val="0D0D0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readOnly</a:t>
            </a:r>
            <a:r>
              <a:rPr lang="en-US" altLang="en-US" dirty="0">
                <a:solidFill>
                  <a:srgbClr val="0D0D0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true, </a:t>
            </a:r>
            <a:r>
              <a:rPr lang="en-US" altLang="en-US" dirty="0" err="1">
                <a:solidFill>
                  <a:srgbClr val="0D0D0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rollbackFor</a:t>
            </a:r>
            <a:r>
              <a:rPr lang="en-US" altLang="en-US" dirty="0">
                <a:solidFill>
                  <a:srgbClr val="0D0D0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en-US" dirty="0" err="1">
                <a:solidFill>
                  <a:srgbClr val="0D0D0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Exception.class</a:t>
            </a:r>
            <a:r>
              <a:rPr lang="en-US" altLang="en-US" dirty="0">
                <a:solidFill>
                  <a:srgbClr val="0D0D0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) </a:t>
            </a:r>
            <a:endParaRPr lang="en-US" altLang="en-US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 err="1">
                <a:solidFill>
                  <a:srgbClr val="0D0D0D"/>
                </a:solidFill>
                <a:latin typeface="-apple-system-body"/>
              </a:rPr>
              <a:t>readOnly</a:t>
            </a:r>
            <a:r>
              <a:rPr lang="en-US" altLang="en-US" dirty="0">
                <a:solidFill>
                  <a:srgbClr val="0D0D0D"/>
                </a:solidFill>
                <a:latin typeface="-apple-system-body"/>
              </a:rPr>
              <a:t> = true → Indicates a read-only transaction.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 err="1">
                <a:solidFill>
                  <a:srgbClr val="0D0D0D"/>
                </a:solidFill>
                <a:latin typeface="-apple-system-body"/>
              </a:rPr>
              <a:t>rollbackFor</a:t>
            </a:r>
            <a:r>
              <a:rPr lang="en-US" altLang="en-US" dirty="0">
                <a:solidFill>
                  <a:srgbClr val="0D0D0D"/>
                </a:solidFill>
                <a:latin typeface="-apple-system-body"/>
              </a:rPr>
              <a:t> → Specifies exceptions that should trigger rollback.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rgbClr val="0D0D0D"/>
                </a:solidFill>
                <a:latin typeface="-apple-system-body"/>
              </a:rPr>
              <a:t>propagation → Controls how transactions participate in existing transactions.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solidFill>
                  <a:srgbClr val="0D0D0D"/>
                </a:solidFill>
                <a:latin typeface="-apple-system-body"/>
              </a:rPr>
              <a:t>isolation → Controls visibility/concurrency between transactions.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0433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73B7B-09DB-4E49-8382-AED1A1291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Transaction Propagation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F970F18-9B1C-44E3-A060-6569C738BD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2067077"/>
              </p:ext>
            </p:extLst>
          </p:nvPr>
        </p:nvGraphicFramePr>
        <p:xfrm>
          <a:off x="838200" y="2252314"/>
          <a:ext cx="10515600" cy="34863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87761878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730564592"/>
                    </a:ext>
                  </a:extLst>
                </a:gridCol>
              </a:tblGrid>
              <a:tr h="366983">
                <a:tc>
                  <a:txBody>
                    <a:bodyPr/>
                    <a:lstStyle/>
                    <a:p>
                      <a:pPr algn="l"/>
                      <a:r>
                        <a:rPr lang="en-IN" b="1">
                          <a:solidFill>
                            <a:srgbClr val="0D0D0D"/>
                          </a:solidFill>
                          <a:effectLst/>
                        </a:rPr>
                        <a:t>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b="1">
                          <a:solidFill>
                            <a:srgbClr val="0D0D0D"/>
                          </a:solidFill>
                          <a:effectLst/>
                        </a:rPr>
                        <a:t>Short 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2977858"/>
                  </a:ext>
                </a:extLst>
              </a:tr>
              <a:tr h="366983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solidFill>
                            <a:srgbClr val="0D0D0D"/>
                          </a:solidFill>
                          <a:effectLst/>
                        </a:rPr>
                        <a:t>REQUIRED 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rgbClr val="0D0D0D"/>
                          </a:solidFill>
                          <a:effectLst/>
                        </a:rPr>
                        <a:t>Join existing transaction; create one if none exists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9446963"/>
                  </a:ext>
                </a:extLst>
              </a:tr>
              <a:tr h="366983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solidFill>
                            <a:srgbClr val="0D0D0D"/>
                          </a:solidFill>
                          <a:effectLst/>
                        </a:rPr>
                        <a:t>REQUIRES_NEW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rgbClr val="0D0D0D"/>
                          </a:solidFill>
                          <a:effectLst/>
                        </a:rPr>
                        <a:t>Suspend current transaction and create a new one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01062006"/>
                  </a:ext>
                </a:extLst>
              </a:tr>
              <a:tr h="642221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solidFill>
                            <a:srgbClr val="0D0D0D"/>
                          </a:solidFill>
                          <a:effectLst/>
                        </a:rPr>
                        <a:t>SUPPORTS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rgbClr val="0D0D0D"/>
                          </a:solidFill>
                          <a:effectLst/>
                        </a:rPr>
                        <a:t>Join transaction if one exists; otherwise run without one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4733876"/>
                  </a:ext>
                </a:extLst>
              </a:tr>
              <a:tr h="366983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solidFill>
                            <a:srgbClr val="0D0D0D"/>
                          </a:solidFill>
                          <a:effectLst/>
                        </a:rPr>
                        <a:t>MANDATORY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rgbClr val="0D0D0D"/>
                          </a:solidFill>
                          <a:effectLst/>
                        </a:rPr>
                        <a:t>Must have an existing transaction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4828977"/>
                  </a:ext>
                </a:extLst>
              </a:tr>
              <a:tr h="366983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solidFill>
                            <a:srgbClr val="0D0D0D"/>
                          </a:solidFill>
                          <a:effectLst/>
                        </a:rPr>
                        <a:t>NOT_SUPPORTED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rgbClr val="0D0D0D"/>
                          </a:solidFill>
                          <a:effectLst/>
                        </a:rPr>
                        <a:t>Suspend transaction and run without one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6338654"/>
                  </a:ext>
                </a:extLst>
              </a:tr>
              <a:tr h="366983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solidFill>
                            <a:srgbClr val="0D0D0D"/>
                          </a:solidFill>
                          <a:effectLst/>
                        </a:rPr>
                        <a:t>NEVER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rgbClr val="0D0D0D"/>
                          </a:solidFill>
                          <a:effectLst/>
                        </a:rPr>
                        <a:t>Must run without a transaction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8813463"/>
                  </a:ext>
                </a:extLst>
              </a:tr>
              <a:tr h="642221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solidFill>
                            <a:srgbClr val="0D0D0D"/>
                          </a:solidFill>
                          <a:effectLst/>
                        </a:rPr>
                        <a:t>NESTED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rgbClr val="0D0D0D"/>
                          </a:solidFill>
                          <a:effectLst/>
                        </a:rPr>
                        <a:t>Create a nested transaction/</a:t>
                      </a:r>
                      <a:r>
                        <a:rPr lang="en-US" dirty="0" err="1">
                          <a:solidFill>
                            <a:srgbClr val="0D0D0D"/>
                          </a:solidFill>
                          <a:effectLst/>
                        </a:rPr>
                        <a:t>savepoint</a:t>
                      </a:r>
                      <a:r>
                        <a:rPr lang="en-US" dirty="0">
                          <a:solidFill>
                            <a:srgbClr val="0D0D0D"/>
                          </a:solidFill>
                          <a:effectLst/>
                        </a:rPr>
                        <a:t> when supported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7576760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AAE74FB0-7BAC-4AAB-B35A-83F3B458F8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596123"/>
            <a:ext cx="9916433" cy="64633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-apple-system-body"/>
              </a:rPr>
              <a:t>Propagation = What should happen when a transactional method calls another transactional method?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51720B8B-3B14-4067-A747-4A1CAB70EB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145" y="5854004"/>
            <a:ext cx="4786567" cy="8925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-apple-system-body"/>
              </a:rPr>
              <a:t>Most commonly used: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-apple-system-body"/>
              </a:rPr>
              <a:t> REQUIRED and REQUIRES_NEW.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7592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A3B9A-2CEB-4B17-B2F7-19D512AB1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Transaction Isolation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9B79A38-0D5E-4DA9-9E94-610A7DB991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6982805"/>
              </p:ext>
            </p:extLst>
          </p:nvPr>
        </p:nvGraphicFramePr>
        <p:xfrm>
          <a:off x="1835728" y="2560322"/>
          <a:ext cx="9137072" cy="2656570"/>
        </p:xfrm>
        <a:graphic>
          <a:graphicData uri="http://schemas.openxmlformats.org/drawingml/2006/table">
            <a:tbl>
              <a:tblPr/>
              <a:tblGrid>
                <a:gridCol w="4568536">
                  <a:extLst>
                    <a:ext uri="{9D8B030D-6E8A-4147-A177-3AD203B41FA5}">
                      <a16:colId xmlns:a16="http://schemas.microsoft.com/office/drawing/2014/main" val="3391943836"/>
                    </a:ext>
                  </a:extLst>
                </a:gridCol>
                <a:gridCol w="4568536">
                  <a:extLst>
                    <a:ext uri="{9D8B030D-6E8A-4147-A177-3AD203B41FA5}">
                      <a16:colId xmlns:a16="http://schemas.microsoft.com/office/drawing/2014/main" val="1634939692"/>
                    </a:ext>
                  </a:extLst>
                </a:gridCol>
              </a:tblGrid>
              <a:tr h="462012">
                <a:tc>
                  <a:txBody>
                    <a:bodyPr/>
                    <a:lstStyle/>
                    <a:p>
                      <a:pPr algn="l"/>
                      <a:r>
                        <a:rPr lang="en-IN" b="1">
                          <a:solidFill>
                            <a:srgbClr val="0D0D0D"/>
                          </a:solidFill>
                          <a:effectLst/>
                        </a:rPr>
                        <a:t>Level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b="1">
                          <a:solidFill>
                            <a:srgbClr val="0D0D0D"/>
                          </a:solidFill>
                          <a:effectLst/>
                        </a:rPr>
                        <a:t>Prevents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2934406"/>
                  </a:ext>
                </a:extLst>
              </a:tr>
              <a:tr h="462012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solidFill>
                            <a:srgbClr val="0D0D0D"/>
                          </a:solidFill>
                          <a:effectLst/>
                        </a:rPr>
                        <a:t>READ_UNCOMMITTED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solidFill>
                            <a:srgbClr val="0D0D0D"/>
                          </a:solidFill>
                          <a:effectLst/>
                        </a:rPr>
                        <a:t>Almost no protection; dirty reads possible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9070840"/>
                  </a:ext>
                </a:extLst>
              </a:tr>
              <a:tr h="462012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solidFill>
                            <a:srgbClr val="0D0D0D"/>
                          </a:solidFill>
                          <a:effectLst/>
                        </a:rPr>
                        <a:t>READ_COMMITTED ⭐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solidFill>
                            <a:srgbClr val="0D0D0D"/>
                          </a:solidFill>
                          <a:effectLst/>
                        </a:rPr>
                        <a:t>Prevents dirty reads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2724876"/>
                  </a:ext>
                </a:extLst>
              </a:tr>
              <a:tr h="462012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solidFill>
                            <a:srgbClr val="0D0D0D"/>
                          </a:solidFill>
                          <a:effectLst/>
                        </a:rPr>
                        <a:t>REPEATABLE_READ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solidFill>
                            <a:srgbClr val="0D0D0D"/>
                          </a:solidFill>
                          <a:effectLst/>
                        </a:rPr>
                        <a:t>Prevents dirty + non-repeatable reads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7885148"/>
                  </a:ext>
                </a:extLst>
              </a:tr>
              <a:tr h="808522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solidFill>
                            <a:srgbClr val="0D0D0D"/>
                          </a:solidFill>
                          <a:effectLst/>
                        </a:rPr>
                        <a:t>SERIALIZABLE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solidFill>
                            <a:srgbClr val="0D0D0D"/>
                          </a:solidFill>
                          <a:effectLst/>
                        </a:rPr>
                        <a:t>Strongest isolation; prevents dirty, non-repeatable, and phantom reads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0227554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7D95E132-F2B5-4D49-9552-9DEE776DB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0654" y="1458964"/>
            <a:ext cx="10593706" cy="6771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-apple-system-body"/>
              </a:rPr>
              <a:t>Isolation = How much can one transaction see/interfere with another concurrent transaction?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4326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482F4-DF0A-4A48-A58B-03AF25490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98B2496-F4CB-476C-8FF4-0F7DADE2CA0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339301"/>
            <a:ext cx="9959458" cy="332398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>
                <a:solidFill>
                  <a:srgbClr val="0D0D0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Transactional( propagation =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Propagation.REQUIRED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D0D0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isolation =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Isolation.READ_COMMITTED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public void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processOrder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D0D0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business logic }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400" dirty="0">
              <a:solidFill>
                <a:srgbClr val="0D0D0D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-apple-system-body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-apple-system-body"/>
              </a:rPr>
              <a:t>Easy way to remember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-apple-system-body"/>
              </a:rPr>
              <a:t>Propagation → "Which transaction?"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-apple-system-body"/>
              </a:rPr>
              <a:t>Isolation → "What can I see from other transactions?"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5519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3C973-63BB-40F4-9072-9989FF549A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Key Takeaways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352D8B-9534-46D5-9FFC-7E1882444C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@Transactional defines a transaction boundary.</a:t>
            </a:r>
          </a:p>
          <a:p>
            <a:r>
              <a:rPr lang="en-US" dirty="0"/>
              <a:t>Multiple database operations can participate in one transaction.</a:t>
            </a:r>
          </a:p>
          <a:p>
            <a:r>
              <a:rPr lang="en-US" dirty="0"/>
              <a:t>Successful operations are committed.</a:t>
            </a:r>
          </a:p>
          <a:p>
            <a:r>
              <a:rPr lang="en-US" dirty="0"/>
              <a:t>Failed transactions can be rolled back.</a:t>
            </a:r>
          </a:p>
          <a:p>
            <a:r>
              <a:rPr lang="en-US" dirty="0"/>
              <a:t>Service methods are commonly used as transaction boundaries.</a:t>
            </a:r>
          </a:p>
          <a:p>
            <a:r>
              <a:rPr lang="en-US" dirty="0"/>
              <a:t>Understand rollback rules.</a:t>
            </a:r>
          </a:p>
          <a:p>
            <a:r>
              <a:rPr lang="en-US" dirty="0"/>
              <a:t>Understand propagation and isolation.</a:t>
            </a:r>
          </a:p>
        </p:txBody>
      </p:sp>
    </p:spTree>
    <p:extLst>
      <p:ext uri="{BB962C8B-B14F-4D97-AF65-F5344CB8AC3E}">
        <p14:creationId xmlns:p14="http://schemas.microsoft.com/office/powerpoint/2010/main" val="20700348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731E1-5955-47C7-945E-928B1C01A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191" y="235819"/>
            <a:ext cx="10515600" cy="1325563"/>
          </a:xfrm>
        </p:spPr>
        <p:txBody>
          <a:bodyPr>
            <a:normAutofit/>
          </a:bodyPr>
          <a:lstStyle/>
          <a:p>
            <a:r>
              <a:rPr lang="en-IN" b="1" dirty="0"/>
              <a:t>JPA/Hibernate Inheritance Strategies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926E0D-1469-4E64-881E-912AA5C906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318661"/>
            <a:ext cx="5181600" cy="5303520"/>
          </a:xfrm>
        </p:spPr>
        <p:txBody>
          <a:bodyPr>
            <a:normAutofit fontScale="47500" lnSpcReduction="20000"/>
          </a:bodyPr>
          <a:lstStyle/>
          <a:p>
            <a:r>
              <a:rPr lang="en-US" sz="3800" dirty="0"/>
              <a:t>Inheritance strategies define </a:t>
            </a:r>
            <a:r>
              <a:rPr lang="en-US" sz="3800" b="1" dirty="0"/>
              <a:t>how a Java class hierarchy is stored in database tables</a:t>
            </a:r>
            <a:r>
              <a:rPr lang="en-US" sz="3800" dirty="0"/>
              <a:t>.</a:t>
            </a:r>
          </a:p>
          <a:p>
            <a:pPr marL="0" indent="0">
              <a:buNone/>
            </a:pPr>
            <a:br>
              <a:rPr lang="en-US" sz="3800" dirty="0"/>
            </a:br>
            <a:r>
              <a:rPr lang="en-IN" sz="3800" dirty="0"/>
              <a:t>@Entity </a:t>
            </a:r>
          </a:p>
          <a:p>
            <a:pPr marL="0" indent="0">
              <a:buNone/>
            </a:pPr>
            <a:r>
              <a:rPr lang="en-IN" sz="3800" dirty="0"/>
              <a:t>@Inheritance(...) </a:t>
            </a:r>
          </a:p>
          <a:p>
            <a:pPr marL="0" indent="0">
              <a:buNone/>
            </a:pPr>
            <a:r>
              <a:rPr lang="en-IN" sz="3800" dirty="0"/>
              <a:t>class Vehicle { </a:t>
            </a:r>
          </a:p>
          <a:p>
            <a:pPr marL="0" indent="0">
              <a:buNone/>
            </a:pPr>
            <a:r>
              <a:rPr lang="en-IN" sz="3800" dirty="0"/>
              <a:t>	Long id; </a:t>
            </a:r>
          </a:p>
          <a:p>
            <a:pPr marL="0" indent="0">
              <a:buNone/>
            </a:pPr>
            <a:r>
              <a:rPr lang="en-IN" sz="3800" dirty="0"/>
              <a:t>	String brand; </a:t>
            </a:r>
          </a:p>
          <a:p>
            <a:pPr marL="0" indent="0">
              <a:buNone/>
            </a:pPr>
            <a:r>
              <a:rPr lang="en-IN" sz="3800" dirty="0"/>
              <a:t>} </a:t>
            </a:r>
          </a:p>
          <a:p>
            <a:pPr marL="0" indent="0">
              <a:buNone/>
            </a:pPr>
            <a:r>
              <a:rPr lang="en-IN" sz="3800" dirty="0"/>
              <a:t>@Entity </a:t>
            </a:r>
          </a:p>
          <a:p>
            <a:pPr marL="0" indent="0">
              <a:buNone/>
            </a:pPr>
            <a:r>
              <a:rPr lang="en-IN" sz="3800" dirty="0"/>
              <a:t>class Car extends Vehicle { </a:t>
            </a:r>
          </a:p>
          <a:p>
            <a:pPr marL="0" indent="0">
              <a:buNone/>
            </a:pPr>
            <a:r>
              <a:rPr lang="en-IN" sz="3800" dirty="0"/>
              <a:t>	int doors; </a:t>
            </a:r>
          </a:p>
          <a:p>
            <a:pPr marL="0" indent="0">
              <a:buNone/>
            </a:pPr>
            <a:r>
              <a:rPr lang="en-IN" sz="3800" dirty="0"/>
              <a:t>} </a:t>
            </a:r>
          </a:p>
          <a:p>
            <a:pPr marL="0" indent="0">
              <a:buNone/>
            </a:pPr>
            <a:r>
              <a:rPr lang="en-IN" sz="3800" dirty="0"/>
              <a:t>@Entity </a:t>
            </a:r>
          </a:p>
          <a:p>
            <a:pPr marL="0" indent="0">
              <a:buNone/>
            </a:pPr>
            <a:r>
              <a:rPr lang="en-IN" sz="3800" dirty="0"/>
              <a:t>class Bike extends Vehicle { </a:t>
            </a:r>
          </a:p>
          <a:p>
            <a:pPr marL="0" indent="0">
              <a:buNone/>
            </a:pPr>
            <a:r>
              <a:rPr lang="en-IN" sz="3800" dirty="0"/>
              <a:t>	</a:t>
            </a:r>
            <a:r>
              <a:rPr lang="en-IN" sz="3800" dirty="0" err="1"/>
              <a:t>boolean</a:t>
            </a:r>
            <a:r>
              <a:rPr lang="en-IN" sz="3800" dirty="0"/>
              <a:t> </a:t>
            </a:r>
            <a:r>
              <a:rPr lang="en-IN" sz="3800" dirty="0" err="1"/>
              <a:t>hasCarrier</a:t>
            </a:r>
            <a:r>
              <a:rPr lang="en-IN" sz="3800" dirty="0"/>
              <a:t>; </a:t>
            </a:r>
          </a:p>
          <a:p>
            <a:pPr marL="0" indent="0">
              <a:buNone/>
            </a:pPr>
            <a:r>
              <a:rPr lang="en-IN" sz="3800" dirty="0"/>
              <a:t>}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22BFEE-8223-4E0A-B368-7A55C2DECC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78317" y="2502569"/>
            <a:ext cx="5771147" cy="3676850"/>
          </a:xfrm>
        </p:spPr>
        <p:txBody>
          <a:bodyPr>
            <a:normAutofit fontScale="47500" lnSpcReduction="20000"/>
          </a:bodyPr>
          <a:lstStyle/>
          <a:p>
            <a:r>
              <a:rPr lang="en-US" sz="4400" dirty="0"/>
              <a:t>There are </a:t>
            </a:r>
            <a:r>
              <a:rPr lang="en-US" sz="4400" b="1" dirty="0"/>
              <a:t>3 main</a:t>
            </a:r>
            <a:r>
              <a:rPr lang="en-US" sz="4000" b="1" dirty="0"/>
              <a:t> strategies</a:t>
            </a:r>
            <a:r>
              <a:rPr lang="en-US" sz="4000" dirty="0"/>
              <a:t>:</a:t>
            </a:r>
          </a:p>
          <a:p>
            <a:pPr lvl="1"/>
            <a:r>
              <a:rPr lang="en-US" sz="3600" dirty="0"/>
              <a:t>SINGLE_TABLE</a:t>
            </a:r>
          </a:p>
          <a:p>
            <a:pPr lvl="1"/>
            <a:r>
              <a:rPr lang="en-US" sz="3600" dirty="0"/>
              <a:t>JOINED</a:t>
            </a:r>
          </a:p>
          <a:p>
            <a:pPr lvl="1"/>
            <a:r>
              <a:rPr lang="en-US" sz="3600" dirty="0"/>
              <a:t>TABLE_PER_CLASS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3806520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724D8-C33D-4A84-96EC-A392B0AD5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SINGLE_TABLE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AB35C45-3168-424E-A38A-EA1D63C4228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31417"/>
            <a:ext cx="11599329" cy="473975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-apple-system-body"/>
              </a:rPr>
              <a:t>All classes stored in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-apple-system-body"/>
              </a:rPr>
              <a:t>one table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-apple-system-body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>
                <a:solidFill>
                  <a:srgbClr val="0D0D0D"/>
                </a:solidFill>
                <a:latin typeface="-apple-system-body"/>
                <a:cs typeface="Courier New" panose="02070309020205020404" pitchFamily="49" charset="0"/>
              </a:rPr>
              <a:t>This is the default </a:t>
            </a:r>
            <a:r>
              <a:rPr lang="en-US" altLang="en-US" dirty="0" err="1">
                <a:solidFill>
                  <a:srgbClr val="0D0D0D"/>
                </a:solidFill>
                <a:latin typeface="-apple-system-body"/>
                <a:cs typeface="Courier New" panose="02070309020205020404" pitchFamily="49" charset="0"/>
              </a:rPr>
              <a:t>InheritanceType</a:t>
            </a:r>
            <a:r>
              <a:rPr lang="en-US" altLang="en-US" dirty="0">
                <a:solidFill>
                  <a:srgbClr val="0D0D0D"/>
                </a:solidFill>
                <a:latin typeface="-apple-system-body"/>
                <a:cs typeface="Courier New" panose="02070309020205020404" pitchFamily="49" charset="0"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@Inheritance(strategy =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InheritanceType.SINGLE_TABLE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vehicle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--------------------------------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id | brand | doors |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has_carrier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--------------------------------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 |  BMW   | 4     | null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 |  Hero  | null  | true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-apple-system-body"/>
              </a:rPr>
              <a:t>Pros: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-apple-system-body"/>
              </a:rPr>
              <a:t> Fast queries, simple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-apple-system-body"/>
              </a:rPr>
            </a:b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-apple-system-body"/>
              </a:rPr>
              <a:t>Cons: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-apple-system-body"/>
              </a:rPr>
              <a:t> Many nullable columns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87545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08DA2-9BE6-48FC-AB31-6785BE36C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JOINED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F6A2EB4-7523-4827-A50D-A437B213831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16029"/>
            <a:ext cx="10310515" cy="477053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-apple-system-body"/>
              </a:rPr>
              <a:t>Parent and child have 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-apple-system-body"/>
              </a:rPr>
              <a:t>separate tables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-apple-system-body"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@Inheritance(strategy =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InheritanceType.JOINED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vehicle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----------------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id | brand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solidFill>
                <a:srgbClr val="0D0D0D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----------------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id | doors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solidFill>
                <a:srgbClr val="0D0D0D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bike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----------------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id |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has_carrier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-apple-system-body"/>
              </a:rPr>
              <a:t>Pros: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-apple-system-body"/>
              </a:rPr>
              <a:t> Normalized database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-apple-system-body"/>
              </a:rPr>
            </a:b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-apple-system-body"/>
              </a:rPr>
              <a:t>Cons: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-apple-system-body"/>
              </a:rPr>
              <a:t> Requires joins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29053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30B8F-4C48-41C3-BABE-87BB942F2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TABLE_PER_CLASS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3F00017-8F1C-4668-B8D8-9D2D7D9C33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154635"/>
            <a:ext cx="10507685" cy="36933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-apple-system-body"/>
              </a:rPr>
              <a:t>Each concrete class gets its 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-apple-system-body"/>
              </a:rPr>
              <a:t>own complete table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-apple-system-body"/>
              </a:rPr>
              <a:t>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@Inheritance(strategy =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InheritanceType.TABLE_PER_CLASS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car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----------------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id | brand | doors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bike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----------------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id | brand |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has_carrier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-apple-system-body"/>
              </a:rPr>
              <a:t>Pros: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-apple-system-body"/>
              </a:rPr>
              <a:t> No joins for individual subclasses</a:t>
            </a:r>
            <a:b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-apple-system-body"/>
              </a:rPr>
            </a:b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-apple-system-body"/>
              </a:rPr>
              <a:t>Cons: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-apple-system-body"/>
              </a:rPr>
              <a:t> Duplicate columns; polymorphic queries can be expensive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38471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F3659-64E4-4B8B-AEAE-A6F13E877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Easy way to remember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EE95E5-684B-40FE-BA6F-B80CE1434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SINGLE_TABLE → One table </a:t>
            </a:r>
          </a:p>
          <a:p>
            <a:r>
              <a:rPr lang="en-US" dirty="0"/>
              <a:t>JOINED → Parent + child tables </a:t>
            </a:r>
          </a:p>
          <a:p>
            <a:r>
              <a:rPr lang="en-US" dirty="0"/>
              <a:t>TABLE_PER_CLASS → One table per concrete class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5852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6E018-2660-483D-8F1E-E9EBA4FFD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Spring Data JPA — Pagination, Sorting &amp; Filtering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2B646-5351-4118-87FA-FF178DCE42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These features help retrieve </a:t>
            </a:r>
            <a:r>
              <a:rPr lang="en-US" b="1" dirty="0"/>
              <a:t>large datasets efficiently</a:t>
            </a:r>
            <a:r>
              <a:rPr lang="en-US" dirty="0"/>
              <a:t> instead of loading everything at once.</a:t>
            </a:r>
          </a:p>
          <a:p>
            <a:pPr marL="0" indent="0">
              <a:buNone/>
            </a:pPr>
            <a:r>
              <a:rPr lang="en-US" b="1" dirty="0"/>
              <a:t>1. Pagination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00293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31D56-2D8A-42C3-84CE-DA7A81D35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1. Pagination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7AF91A6-9AC8-4F8A-98A8-0A3B3CE288E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46804"/>
            <a:ext cx="9650078" cy="470898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-apple-system-body"/>
              </a:rPr>
              <a:t>Fetch data page by page using Pageable.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GetMapping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("/users")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public Page&lt;User&gt;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getUsers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(@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RequestParam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(…)</a:t>
            </a:r>
            <a:r>
              <a:rPr lang="en-US" altLang="en-US" sz="1800" dirty="0">
                <a:solidFill>
                  <a:srgbClr val="0D0D0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 page,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>
                <a:solidFill>
                  <a:srgbClr val="0D0D0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		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RequestParam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(…) int size) {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>
                <a:solidFill>
                  <a:srgbClr val="0D0D0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n-US" sz="1800" dirty="0" err="1">
                <a:solidFill>
                  <a:srgbClr val="0D0D0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Pageable.of</a:t>
            </a:r>
            <a:r>
              <a:rPr lang="en-US" altLang="en-US" sz="1800" dirty="0">
                <a:solidFill>
                  <a:srgbClr val="0D0D0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en-US" sz="1800" dirty="0" err="1">
                <a:solidFill>
                  <a:srgbClr val="0D0D0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page,size</a:t>
            </a:r>
            <a:r>
              <a:rPr lang="en-US" altLang="en-US" sz="1800" dirty="0">
                <a:solidFill>
                  <a:srgbClr val="0D0D0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>
                <a:solidFill>
                  <a:srgbClr val="0D0D0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userRepository.findAll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(pageable);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-apple-system-body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-apple-system-body"/>
              </a:rPr>
              <a:t>Repository: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public interface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UserRepository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extends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JpaRepository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&lt;User, Long&gt; { }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-apple-system-body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-apple-system-body"/>
              </a:rPr>
              <a:t>Example request: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GET /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users?page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=0&amp;size=10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-apple-system-body"/>
              </a:rPr>
              <a:t>page=0 → first page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-apple-system-body"/>
              </a:rPr>
              <a:t>size=10 → 10 records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11007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CEFCD-6159-46E3-B1BA-430218C50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Sorting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0404272-0EFE-4689-AF64-91D3364CE4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93189"/>
            <a:ext cx="11054308" cy="30162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-apple-system-body"/>
              </a:rPr>
              <a:t>Sort using sort: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GET /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users?sort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name&amp;order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asc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-apple-system-body"/>
              </a:rPr>
              <a:t>or: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GET /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users?sort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age&amp;order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=desc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-apple-system-body"/>
              </a:rPr>
              <a:t>Programmatically: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PageRequest.of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(0, 10, Sort.by("name").ascending());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13894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817DA-CAF7-4A61-9E03-7AF75F507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Filtering</a:t>
            </a:r>
            <a:endParaRPr lang="en-IN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51B0455A-CCC9-4159-A831-E9BB760012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339300"/>
            <a:ext cx="10047622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-apple-system-body"/>
              </a:rPr>
              <a:t>Use a query method: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List&lt;User&gt;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findByDepartment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(String department);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-apple-system-body"/>
              </a:rPr>
              <a:t>Request: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GET /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users?department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=IT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-apple-system-body"/>
              </a:rPr>
              <a:t>For multiple conditions: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D0D0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Page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&lt;User&gt;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findByDepartmentAndAgeGreaterThan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rgbClr val="0D0D0D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	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String department, int age );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42105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FB8A0-B5E1-480A-9A7F-B66663062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Easy Way to remember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C2A46-5FDA-49EA-9D02-D5C23A044B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Pagination → How many records?</a:t>
            </a:r>
            <a:br>
              <a:rPr lang="en-US" dirty="0"/>
            </a:br>
            <a:r>
              <a:rPr lang="en-US" b="1" dirty="0"/>
              <a:t>Sorting → In what order?</a:t>
            </a:r>
            <a:br>
              <a:rPr lang="en-US" dirty="0"/>
            </a:br>
            <a:r>
              <a:rPr lang="en-US" b="1" dirty="0"/>
              <a:t>Filtering → Which records?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92004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2C2FC-8915-4D97-B894-D4E295650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Boot 4 - Profiles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682C79-A591-40A3-9C32-B7F6E64925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Profiles</a:t>
            </a:r>
            <a:r>
              <a:rPr lang="en-US" dirty="0"/>
              <a:t> allow you to use </a:t>
            </a:r>
            <a:r>
              <a:rPr lang="en-US" b="1" dirty="0"/>
              <a:t>different configurations for different environments</a:t>
            </a:r>
            <a:r>
              <a:rPr lang="en-US" dirty="0"/>
              <a:t>, such as development, testing, and production.</a:t>
            </a:r>
          </a:p>
          <a:p>
            <a:pPr marL="0" indent="0">
              <a:buNone/>
            </a:pPr>
            <a:r>
              <a:rPr lang="en-IN" b="1" dirty="0"/>
              <a:t>1. Define profiles</a:t>
            </a:r>
          </a:p>
          <a:p>
            <a:pPr marL="0" indent="0">
              <a:buNone/>
            </a:pPr>
            <a:r>
              <a:rPr lang="en-IN" dirty="0"/>
              <a:t># application-</a:t>
            </a:r>
            <a:r>
              <a:rPr lang="en-IN" dirty="0" err="1"/>
              <a:t>dev.properties</a:t>
            </a: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dirty="0" err="1"/>
              <a:t>server.port</a:t>
            </a:r>
            <a:r>
              <a:rPr lang="en-IN" dirty="0"/>
              <a:t>=8081 </a:t>
            </a:r>
          </a:p>
          <a:p>
            <a:pPr marL="0" indent="0">
              <a:buNone/>
            </a:pPr>
            <a:r>
              <a:rPr lang="en-IN" dirty="0"/>
              <a:t>spring.datasource.url=</a:t>
            </a:r>
            <a:r>
              <a:rPr lang="en-IN" dirty="0" err="1"/>
              <a:t>jdbc:mysql</a:t>
            </a:r>
            <a:r>
              <a:rPr lang="en-IN" dirty="0"/>
              <a:t>://localhost/</a:t>
            </a:r>
            <a:r>
              <a:rPr lang="en-IN" dirty="0" err="1"/>
              <a:t>devdb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# application-</a:t>
            </a:r>
            <a:r>
              <a:rPr lang="en-IN" dirty="0" err="1"/>
              <a:t>prod.properties</a:t>
            </a:r>
            <a:r>
              <a:rPr lang="en-IN" dirty="0"/>
              <a:t> </a:t>
            </a:r>
          </a:p>
          <a:p>
            <a:pPr marL="0" indent="0">
              <a:buNone/>
            </a:pPr>
            <a:r>
              <a:rPr lang="en-IN" dirty="0" err="1"/>
              <a:t>server.port</a:t>
            </a:r>
            <a:r>
              <a:rPr lang="en-IN" dirty="0"/>
              <a:t>=8080 </a:t>
            </a:r>
          </a:p>
          <a:p>
            <a:pPr marL="0" indent="0">
              <a:buNone/>
            </a:pPr>
            <a:r>
              <a:rPr lang="en-IN" dirty="0"/>
              <a:t>spring.datasource.url=</a:t>
            </a:r>
            <a:r>
              <a:rPr lang="en-IN" dirty="0" err="1"/>
              <a:t>jdbc:mysql</a:t>
            </a:r>
            <a:r>
              <a:rPr lang="en-IN" dirty="0"/>
              <a:t>://prod-server/</a:t>
            </a:r>
            <a:r>
              <a:rPr lang="en-IN" dirty="0" err="1"/>
              <a:t>proddb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70301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BF307-4355-4622-89BC-506941482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Boot 4 – Profiles (</a:t>
            </a:r>
            <a:r>
              <a:rPr lang="en-US" dirty="0" err="1"/>
              <a:t>Contd</a:t>
            </a:r>
            <a:r>
              <a:rPr lang="en-US" dirty="0"/>
              <a:t>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1CD7B8-C0EC-4A2E-8B48-B1E58FE6E1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2. Activate a profile</a:t>
            </a:r>
          </a:p>
          <a:p>
            <a:pPr marL="0" indent="0">
              <a:buNone/>
            </a:pPr>
            <a:r>
              <a:rPr lang="en-IN" dirty="0"/>
              <a:t>In </a:t>
            </a:r>
            <a:r>
              <a:rPr lang="en-IN" dirty="0" err="1"/>
              <a:t>application.properties</a:t>
            </a:r>
            <a:r>
              <a:rPr lang="en-IN" dirty="0"/>
              <a:t> file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US" dirty="0"/>
              <a:t>Spring Boot 4 – Profiles</a:t>
            </a:r>
          </a:p>
          <a:p>
            <a:pPr marL="0" indent="0">
              <a:buNone/>
            </a:pPr>
            <a:r>
              <a:rPr lang="en-US" dirty="0"/>
              <a:t>Or from command line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IN" dirty="0"/>
              <a:t>java -jar app.jar --</a:t>
            </a:r>
            <a:r>
              <a:rPr lang="en-IN" dirty="0" err="1"/>
              <a:t>spring.profiles.active</a:t>
            </a:r>
            <a:r>
              <a:rPr lang="en-IN" dirty="0"/>
              <a:t>=prod</a:t>
            </a:r>
          </a:p>
        </p:txBody>
      </p:sp>
    </p:spTree>
    <p:extLst>
      <p:ext uri="{BB962C8B-B14F-4D97-AF65-F5344CB8AC3E}">
        <p14:creationId xmlns:p14="http://schemas.microsoft.com/office/powerpoint/2010/main" val="15141723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82834-A4C1-4893-AB66-0C000865C8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Spring Boot 4 – Profiles (</a:t>
            </a:r>
            <a:r>
              <a:rPr lang="en-US" dirty="0" err="1"/>
              <a:t>Contd</a:t>
            </a:r>
            <a:r>
              <a:rPr lang="en-US" dirty="0"/>
              <a:t>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F9E940-AC13-497B-A113-0BF31B791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You can also load a bean only for a specific profile:</a:t>
            </a:r>
          </a:p>
          <a:p>
            <a:pPr marL="0" indent="0">
              <a:buNone/>
            </a:pPr>
            <a:r>
              <a:rPr lang="en-IN" dirty="0"/>
              <a:t>@Profile("dev") </a:t>
            </a:r>
          </a:p>
          <a:p>
            <a:pPr marL="0" indent="0">
              <a:buNone/>
            </a:pPr>
            <a:r>
              <a:rPr lang="en-IN" dirty="0"/>
              <a:t>@Bean </a:t>
            </a:r>
          </a:p>
          <a:p>
            <a:pPr marL="0" indent="0">
              <a:buNone/>
            </a:pPr>
            <a:r>
              <a:rPr lang="en-IN" dirty="0"/>
              <a:t>public </a:t>
            </a:r>
            <a:r>
              <a:rPr lang="en-IN" dirty="0" err="1"/>
              <a:t>DataSource</a:t>
            </a:r>
            <a:r>
              <a:rPr lang="en-IN" dirty="0"/>
              <a:t> </a:t>
            </a:r>
            <a:r>
              <a:rPr lang="en-IN" dirty="0" err="1"/>
              <a:t>devDataSource</a:t>
            </a:r>
            <a:r>
              <a:rPr lang="en-IN" dirty="0"/>
              <a:t>() { </a:t>
            </a:r>
          </a:p>
          <a:p>
            <a:pPr marL="0" indent="0">
              <a:buNone/>
            </a:pPr>
            <a:r>
              <a:rPr lang="en-IN" dirty="0"/>
              <a:t>	return ...; 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US" dirty="0"/>
              <a:t>@Profile("prod") </a:t>
            </a:r>
          </a:p>
          <a:p>
            <a:pPr marL="0" indent="0">
              <a:buNone/>
            </a:pPr>
            <a:r>
              <a:rPr lang="en-US" dirty="0"/>
              <a:t>@Bean </a:t>
            </a:r>
          </a:p>
          <a:p>
            <a:pPr marL="0" indent="0">
              <a:buNone/>
            </a:pPr>
            <a:r>
              <a:rPr lang="en-US" dirty="0"/>
              <a:t>public </a:t>
            </a:r>
            <a:r>
              <a:rPr lang="en-US" dirty="0" err="1"/>
              <a:t>DataSource</a:t>
            </a:r>
            <a:r>
              <a:rPr lang="en-US" dirty="0"/>
              <a:t> </a:t>
            </a:r>
            <a:r>
              <a:rPr lang="en-US" dirty="0" err="1"/>
              <a:t>prodDataSource</a:t>
            </a:r>
            <a:r>
              <a:rPr lang="en-US" dirty="0"/>
              <a:t>() { </a:t>
            </a:r>
          </a:p>
          <a:p>
            <a:pPr marL="0" indent="0">
              <a:buNone/>
            </a:pPr>
            <a:r>
              <a:rPr lang="en-US" dirty="0"/>
              <a:t>	return ...; 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b="1" dirty="0"/>
              <a:t>Easy way to remember</a:t>
            </a:r>
          </a:p>
          <a:p>
            <a:pPr marL="0" indent="0">
              <a:buNone/>
            </a:pPr>
            <a:r>
              <a:rPr lang="en-IN" b="1" dirty="0"/>
              <a:t>Profile = Environment-specific configuration/beans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47968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35622-983C-4402-A848-80D6CCA10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Monolithic vs Microservices — 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B1E4A-E85F-4102-B936-2D1C8A0A8D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3789"/>
            <a:ext cx="10515600" cy="4733174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AutoNum type="arabicPeriod"/>
            </a:pPr>
            <a:r>
              <a:rPr lang="en-US" b="1" dirty="0"/>
              <a:t>Monolithic Architecture</a:t>
            </a:r>
          </a:p>
          <a:p>
            <a:pPr marL="457200" lvl="1" indent="0">
              <a:buNone/>
            </a:pPr>
            <a:r>
              <a:rPr lang="en-US" dirty="0"/>
              <a:t>A </a:t>
            </a:r>
            <a:r>
              <a:rPr lang="en-US" b="1" dirty="0"/>
              <a:t>monolithic application</a:t>
            </a:r>
            <a:r>
              <a:rPr lang="en-US" dirty="0"/>
              <a:t> is built and deployed as </a:t>
            </a:r>
            <a:r>
              <a:rPr lang="en-US" b="1" dirty="0"/>
              <a:t>one single application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sz="2400" b="1" dirty="0"/>
              <a:t>Example:</a:t>
            </a:r>
            <a:r>
              <a:rPr lang="en-US" sz="2400" dirty="0"/>
              <a:t> An e-commerce application where user, order, payment, and inventory modules are all inside one Spring Boot application.</a:t>
            </a:r>
          </a:p>
          <a:p>
            <a:pPr marL="0" indent="0">
              <a:buNone/>
            </a:pPr>
            <a:r>
              <a:rPr lang="en-US" sz="2400" b="1" dirty="0"/>
              <a:t>Advantages: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Simple to develop initially</a:t>
            </a:r>
          </a:p>
          <a:p>
            <a:pPr marL="0" indent="0">
              <a:buNone/>
            </a:pPr>
            <a:r>
              <a:rPr lang="en-US" sz="2400" dirty="0"/>
              <a:t>Easy to test and deploy</a:t>
            </a:r>
          </a:p>
          <a:p>
            <a:pPr marL="0" indent="0">
              <a:buNone/>
            </a:pPr>
            <a:r>
              <a:rPr lang="en-US" sz="2400" dirty="0"/>
              <a:t>Simple communication between modules</a:t>
            </a:r>
          </a:p>
          <a:p>
            <a:pPr marL="0" indent="0">
              <a:buNone/>
            </a:pPr>
            <a:r>
              <a:rPr lang="en-US" sz="2400" b="1" dirty="0"/>
              <a:t>Disadvantages: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Large and difficult to maintain as it grows</a:t>
            </a:r>
          </a:p>
          <a:p>
            <a:pPr marL="0" indent="0">
              <a:buNone/>
            </a:pPr>
            <a:r>
              <a:rPr lang="en-US" sz="2400" dirty="0"/>
              <a:t>Entire application usually needs to be deployed together</a:t>
            </a:r>
          </a:p>
          <a:p>
            <a:pPr marL="0" indent="0">
              <a:buNone/>
            </a:pPr>
            <a:r>
              <a:rPr lang="en-US" sz="2400" dirty="0"/>
              <a:t>One failure can potentially affect the whole application</a:t>
            </a:r>
          </a:p>
          <a:p>
            <a:pPr marL="0" indent="0">
              <a:buNone/>
            </a:pPr>
            <a:r>
              <a:rPr lang="en-US" sz="2400" dirty="0"/>
              <a:t>Scaling individual modules is difficult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76836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8E854-3B7F-4C11-80ED-825956946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Monolithic vs Microservices — 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42B44-A917-41AB-A914-D14ED0B89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3040"/>
            <a:ext cx="10515600" cy="527464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2. Microservices Architecture</a:t>
            </a:r>
          </a:p>
          <a:p>
            <a:pPr marL="457200" lvl="1" indent="0">
              <a:buNone/>
            </a:pPr>
            <a:r>
              <a:rPr lang="en-US" dirty="0"/>
              <a:t>A </a:t>
            </a:r>
            <a:r>
              <a:rPr lang="en-US" b="1" dirty="0"/>
              <a:t>microservices architecture</a:t>
            </a:r>
            <a:r>
              <a:rPr lang="en-US" dirty="0"/>
              <a:t> divides an application into </a:t>
            </a:r>
            <a:r>
              <a:rPr lang="en-US" b="1" dirty="0"/>
              <a:t>small, independently deployable services</a:t>
            </a:r>
            <a:r>
              <a:rPr lang="en-US" dirty="0"/>
              <a:t>.</a:t>
            </a:r>
          </a:p>
          <a:p>
            <a:r>
              <a:rPr lang="en-US" dirty="0"/>
              <a:t>Each service focuses on a </a:t>
            </a:r>
            <a:r>
              <a:rPr lang="en-US" b="1" dirty="0"/>
              <a:t>specific business capability</a:t>
            </a:r>
            <a:r>
              <a:rPr lang="en-US" dirty="0"/>
              <a:t> and communicates with other services using APIs or messaging.</a:t>
            </a:r>
          </a:p>
          <a:p>
            <a:pPr marL="0" indent="0">
              <a:buNone/>
            </a:pPr>
            <a:r>
              <a:rPr lang="en-US" b="1" dirty="0"/>
              <a:t>Advantages: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Independent deployment</a:t>
            </a:r>
          </a:p>
          <a:p>
            <a:pPr marL="0" indent="0">
              <a:buNone/>
            </a:pPr>
            <a:r>
              <a:rPr lang="en-US" dirty="0"/>
              <a:t>Services can be scaled independently</a:t>
            </a:r>
          </a:p>
          <a:p>
            <a:pPr marL="0" indent="0">
              <a:buNone/>
            </a:pPr>
            <a:r>
              <a:rPr lang="en-US" dirty="0"/>
              <a:t>Smaller codebases</a:t>
            </a:r>
          </a:p>
          <a:p>
            <a:pPr marL="0" indent="0">
              <a:buNone/>
            </a:pPr>
            <a:r>
              <a:rPr lang="en-US" dirty="0"/>
              <a:t>Teams can work independently</a:t>
            </a:r>
          </a:p>
          <a:p>
            <a:pPr marL="0" indent="0">
              <a:buNone/>
            </a:pPr>
            <a:r>
              <a:rPr lang="en-US" dirty="0"/>
              <a:t>Failure can potentially be isolated to a service</a:t>
            </a:r>
          </a:p>
          <a:p>
            <a:pPr marL="0" indent="0">
              <a:buNone/>
            </a:pPr>
            <a:r>
              <a:rPr lang="en-US" b="1" dirty="0"/>
              <a:t>Disadvantages: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More complex architecture</a:t>
            </a:r>
          </a:p>
          <a:p>
            <a:pPr marL="0" indent="0">
              <a:buNone/>
            </a:pPr>
            <a:r>
              <a:rPr lang="en-US" dirty="0"/>
              <a:t>Network communication introduces latency/failures</a:t>
            </a:r>
          </a:p>
          <a:p>
            <a:pPr marL="0" indent="0">
              <a:buNone/>
            </a:pPr>
            <a:r>
              <a:rPr lang="en-US" dirty="0"/>
              <a:t>Distributed transactions are harder</a:t>
            </a:r>
          </a:p>
          <a:p>
            <a:pPr marL="0" indent="0">
              <a:buNone/>
            </a:pPr>
            <a:r>
              <a:rPr lang="en-US" dirty="0"/>
              <a:t>Monitoring and debugging are more difficult</a:t>
            </a:r>
          </a:p>
          <a:p>
            <a:pPr marL="0" indent="0">
              <a:buNone/>
            </a:pPr>
            <a:r>
              <a:rPr lang="en-US" dirty="0"/>
              <a:t>Requires good DevOps/infrastructure practices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388839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E2117-8050-40A7-83C7-497D69C02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Comparison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2626C75-2742-476E-8C0A-AE27E322C0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78277234"/>
              </p:ext>
            </p:extLst>
          </p:nvPr>
        </p:nvGraphicFramePr>
        <p:xfrm>
          <a:off x="992204" y="1690688"/>
          <a:ext cx="10515600" cy="2923263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21366448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14860541"/>
                    </a:ext>
                  </a:extLst>
                </a:gridCol>
              </a:tblGrid>
              <a:tr h="417609">
                <a:tc>
                  <a:txBody>
                    <a:bodyPr/>
                    <a:lstStyle/>
                    <a:p>
                      <a:pPr algn="l"/>
                      <a:r>
                        <a:rPr lang="en-IN" b="1">
                          <a:solidFill>
                            <a:srgbClr val="0D0D0D"/>
                          </a:solidFill>
                          <a:effectLst/>
                        </a:rPr>
                        <a:t>Monolithic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b="1">
                          <a:solidFill>
                            <a:srgbClr val="0D0D0D"/>
                          </a:solidFill>
                          <a:effectLst/>
                        </a:rPr>
                        <a:t>Microservices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6720884"/>
                  </a:ext>
                </a:extLst>
              </a:tr>
              <a:tr h="417609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solidFill>
                            <a:srgbClr val="0D0D0D"/>
                          </a:solidFill>
                          <a:effectLst/>
                        </a:rPr>
                        <a:t>One application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solidFill>
                            <a:srgbClr val="0D0D0D"/>
                          </a:solidFill>
                          <a:effectLst/>
                        </a:rPr>
                        <a:t>Multiple services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0032665"/>
                  </a:ext>
                </a:extLst>
              </a:tr>
              <a:tr h="417609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solidFill>
                            <a:srgbClr val="0D0D0D"/>
                          </a:solidFill>
                          <a:effectLst/>
                        </a:rPr>
                        <a:t>Usually deployed together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solidFill>
                            <a:srgbClr val="0D0D0D"/>
                          </a:solidFill>
                          <a:effectLst/>
                        </a:rPr>
                        <a:t>Independently deployable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7221758"/>
                  </a:ext>
                </a:extLst>
              </a:tr>
              <a:tr h="417609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solidFill>
                            <a:srgbClr val="0D0D0D"/>
                          </a:solidFill>
                          <a:effectLst/>
                        </a:rPr>
                        <a:t>Often centralized database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solidFill>
                            <a:srgbClr val="0D0D0D"/>
                          </a:solidFill>
                          <a:effectLst/>
                        </a:rPr>
                        <a:t>Often database per service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7504272"/>
                  </a:ext>
                </a:extLst>
              </a:tr>
              <a:tr h="417609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solidFill>
                            <a:srgbClr val="0D0D0D"/>
                          </a:solidFill>
                          <a:effectLst/>
                        </a:rPr>
                        <a:t>Simple initially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solidFill>
                            <a:srgbClr val="0D0D0D"/>
                          </a:solidFill>
                          <a:effectLst/>
                        </a:rPr>
                        <a:t>More operational complexity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6933495"/>
                  </a:ext>
                </a:extLst>
              </a:tr>
              <a:tr h="417609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solidFill>
                            <a:srgbClr val="0D0D0D"/>
                          </a:solidFill>
                          <a:effectLst/>
                        </a:rPr>
                        <a:t>Scale whole application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solidFill>
                            <a:srgbClr val="0D0D0D"/>
                          </a:solidFill>
                          <a:effectLst/>
                        </a:rPr>
                        <a:t>Scale individual services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36307909"/>
                  </a:ext>
                </a:extLst>
              </a:tr>
              <a:tr h="417609">
                <a:tc>
                  <a:txBody>
                    <a:bodyPr/>
                    <a:lstStyle/>
                    <a:p>
                      <a:pPr algn="l"/>
                      <a:r>
                        <a:rPr lang="en-IN">
                          <a:solidFill>
                            <a:srgbClr val="0D0D0D"/>
                          </a:solidFill>
                          <a:effectLst/>
                        </a:rPr>
                        <a:t>Simple communication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solidFill>
                            <a:srgbClr val="0D0D0D"/>
                          </a:solidFill>
                          <a:effectLst/>
                        </a:rPr>
                        <a:t>Network communication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72079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2C08B876-5819-444F-83F9-AA65199265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381" y="362893"/>
            <a:ext cx="65" cy="461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1" i="0" u="none" strike="noStrike" cap="none" normalizeH="0" baseline="0" dirty="0">
              <a:ln>
                <a:noFill/>
              </a:ln>
              <a:solidFill>
                <a:srgbClr val="0D0D0D"/>
              </a:solidFill>
              <a:effectLst/>
              <a:latin typeface="-apple-system-body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FFE36D4-5F0A-44AC-8249-88429A018C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204" y="4613314"/>
            <a:ext cx="8983228" cy="11079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-apple-system-body"/>
              </a:rPr>
              <a:t>Easy way to remember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Monolith = One big application</a:t>
            </a:r>
            <a:b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Microservices = Multiple small, independently deployable services</a:t>
            </a:r>
          </a:p>
        </p:txBody>
      </p:sp>
    </p:spTree>
    <p:extLst>
      <p:ext uri="{BB962C8B-B14F-4D97-AF65-F5344CB8AC3E}">
        <p14:creationId xmlns:p14="http://schemas.microsoft.com/office/powerpoint/2010/main" val="9475379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D249C-9B97-4115-A1D6-86935DCCB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92D22-CBDA-42B7-A346-01C2A51B9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4232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529</Words>
  <Application>Microsoft Office PowerPoint</Application>
  <PresentationFormat>Widescreen</PresentationFormat>
  <Paragraphs>275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-apple-system-body</vt:lpstr>
      <vt:lpstr>Arial</vt:lpstr>
      <vt:lpstr>Calibri</vt:lpstr>
      <vt:lpstr>Calibri Light</vt:lpstr>
      <vt:lpstr>Courier New</vt:lpstr>
      <vt:lpstr>Office Theme</vt:lpstr>
      <vt:lpstr>Spring Boot 4</vt:lpstr>
      <vt:lpstr>Topics</vt:lpstr>
      <vt:lpstr>Spring Data JPA - @Transactional</vt:lpstr>
      <vt:lpstr>@Transactional</vt:lpstr>
      <vt:lpstr>@Transactional</vt:lpstr>
      <vt:lpstr>Transaction Propagation</vt:lpstr>
      <vt:lpstr>Transaction Isolation</vt:lpstr>
      <vt:lpstr>Example</vt:lpstr>
      <vt:lpstr>Key Takeaways</vt:lpstr>
      <vt:lpstr>JPA/Hibernate Inheritance Strategies</vt:lpstr>
      <vt:lpstr>1. SINGLE_TABLE</vt:lpstr>
      <vt:lpstr>2. JOINED</vt:lpstr>
      <vt:lpstr>3. TABLE_PER_CLASS</vt:lpstr>
      <vt:lpstr>Easy way to remember</vt:lpstr>
      <vt:lpstr>Spring Data JPA — Pagination, Sorting &amp; Filtering</vt:lpstr>
      <vt:lpstr>1. Pagination</vt:lpstr>
      <vt:lpstr>2. Sorting</vt:lpstr>
      <vt:lpstr>3. Filtering</vt:lpstr>
      <vt:lpstr>Easy Way to remember</vt:lpstr>
      <vt:lpstr>Spring Boot 4 - Profiles</vt:lpstr>
      <vt:lpstr>Spring Boot 4 – Profiles (Contd)</vt:lpstr>
      <vt:lpstr>Spring Boot 4 – Profiles (Contd)</vt:lpstr>
      <vt:lpstr>Monolithic vs Microservices — Introduction</vt:lpstr>
      <vt:lpstr>Monolithic vs Microservices — Introduction</vt:lpstr>
      <vt:lpstr>Quick Comparison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Boot 4</dc:title>
  <dc:creator>DELL</dc:creator>
  <cp:lastModifiedBy>DELL</cp:lastModifiedBy>
  <cp:revision>12</cp:revision>
  <dcterms:created xsi:type="dcterms:W3CDTF">2026-08-30T13:55:16Z</dcterms:created>
  <dcterms:modified xsi:type="dcterms:W3CDTF">2026-08-30T16:03:00Z</dcterms:modified>
</cp:coreProperties>
</file>