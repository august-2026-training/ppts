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58" r:id="rId5"/>
    <p:sldId id="259" r:id="rId6"/>
    <p:sldId id="260" r:id="rId7"/>
    <p:sldId id="264" r:id="rId8"/>
    <p:sldId id="261" r:id="rId9"/>
    <p:sldId id="293" r:id="rId10"/>
    <p:sldId id="294" r:id="rId11"/>
    <p:sldId id="29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8111-554E-4557-B1F5-53F3BE475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EA209-6D1F-440D-B3AF-3BD40F937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FC010-FEE9-471E-8EBF-527D40867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A85BD-7B88-4BAA-9D66-EB0765E99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38560-BF2F-46D7-98DA-ADC121DF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16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AE74-572C-4461-9069-C4A9EAC8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CC5A7-0E25-4A9E-901D-566458E5F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DAC3F-F63F-4180-B846-AC709E852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95F5C-371D-4E8C-BDC6-DA9062EC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38514-0855-43C9-951E-555596B5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1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BAF39-F889-4303-A246-44079293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F77AC-E3E9-4C2D-A654-F2063FC3D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11FDF-6D74-4EE4-8E12-38F9936B7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AA3B2-C56F-4F18-833A-C38827C46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3F84A-AFCF-4CAA-85FB-232655C5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696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DE8C-7F1B-4557-A9A5-FB6BF258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B228-1565-4A6F-9D12-43CF352D23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577D0-08DF-41E8-BFB1-399F5C3F5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4F4BE-77EF-4EAC-A162-E71C39FE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1E673-D1E1-4550-B250-D038C7E9F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0BB76-B7AF-4698-BECA-58AD66BF7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881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BE52-C130-4B21-947C-01F16CD1E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57E66-D241-4D56-8372-11CF069AA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1AFCA-EE30-44A5-B9C2-F2739348B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98D91-204A-4D08-A42F-037389FD4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46DC7-6771-4EE2-AF67-539C54B9E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381BA-947D-433B-895D-08C4B6A8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45C1D-D68F-4BD1-8744-E84C3334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924D3-3DE7-4083-8482-0A0B7D01B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691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0FB1-0DAC-439B-A87F-6DC26AAAA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0BB010-49D4-4AD9-B58F-E5D60DA4F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F9167-AF8D-4F5E-94F4-F45BF2975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5666D-B4C8-4968-AB6E-63550215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50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A65A0-0983-4190-AFDF-E90FCC51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D2F50-630E-412E-86E9-C83BBF7C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F89E9-4D64-4006-A696-6408CFE9C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62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608FF-58FB-428D-8341-0A8903F8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98D54-A8D8-4B4C-89DE-4C339543A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5C7B3-3DD8-443C-ABD4-26B8E3AE1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AEFDD-AF6C-4482-AA5C-437D02547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BA968-0174-4CB3-8EFD-6E3C37BB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EFF15-489C-42BB-A3EF-4AD2F3F9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54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21F7-DBA8-47F1-B5F0-E46D3528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16760-2BD1-4CA5-90EC-3474C846B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2FA55-149E-4DB9-AFDC-2CE1FED52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6469E-8857-4B5F-B184-5C7675AA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E074E-0543-49E9-90E2-44AC12D2B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58FBF-F00E-469B-A569-7BAE2645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10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E9822-7B91-434F-8DB6-64D3CD6B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600E4-F396-4376-AE8D-6397FF418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D8CBD-310E-4FE7-B467-B6D4F5B7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03FA3-7F4E-443F-A003-8447DAC8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CA5F-CCBF-4FFB-A739-6E2045AC8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02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6CFA54-D2DF-4840-B6D2-DD1B7F9F34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5807B-8468-47B8-906D-A7DD97B63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3CE50-1A52-42E3-A744-684C6622C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87E8F-3480-497F-90CF-95A066F14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DCA4A-9A2B-4103-B6CE-CBD959C4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613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0E27C5-FE86-46C9-81F7-46F59C55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D90A9-F473-4C80-847D-8A1C7535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93FB0-24AE-40FF-ADA9-11E96C197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A7E7-4606-4A9A-A460-3CB15504E0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03D4B-9B51-4351-AB9A-729BC47F7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474C-386E-4AFC-BAEA-A4AAB7C58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7E73E-704D-4AFE-9B93-1B9FC78FF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E697-7829-41B1-AFEC-9F31CE3C9D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Security 7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E7444-6AC4-499A-AA1F-F50FC5737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Intergrating</a:t>
            </a:r>
            <a:r>
              <a:rPr lang="en-US" dirty="0"/>
              <a:t> JWT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453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308F-4CA8-071F-116F-5182E2A3E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Deep Dive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28155F-8772-74AC-DF81-5B37B4717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1673" y="1479479"/>
            <a:ext cx="8662398" cy="469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5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2F33-49F7-AC35-A1B2-72E528A57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JWT?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9DC40-9D55-0EA9-38FD-A091EDE79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 JSON web token(JWT)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S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ecurely transfer information over the web(between two parties). </a:t>
            </a:r>
          </a:p>
          <a:p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U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sed for an authentication system and information exchange.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token is mainly composed of 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header, payload, signature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These three parts are separated by dots(.).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JWT defines the structure of information we are sending from one party to the another.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36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894C-65F8-B75A-AA7B-4A71B5902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JWT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D01AD-6E70-3FCD-E109-3D2A78163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 JWT represents a string in the following format</a:t>
            </a:r>
          </a:p>
          <a:p>
            <a:pPr marL="1371600" lvl="3" indent="0">
              <a:buNone/>
            </a:pPr>
            <a:r>
              <a:rPr lang="en-IN" sz="2800" dirty="0"/>
              <a:t>[header].[payload].[signature]</a:t>
            </a:r>
          </a:p>
          <a:p>
            <a:r>
              <a:rPr lang="en-IN" dirty="0"/>
              <a:t>Header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Describes the cryptographic operations applied to the JWT like signing/decryption technique used on it. </a:t>
            </a:r>
          </a:p>
          <a:p>
            <a:pPr lvl="1" fontAlgn="base"/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C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an also contain the data about the media/content type of the information we are sending. 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information is present as a JSON object then this JSON object is encoded to BASE64URL.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 simple header of a JWT looks like the code below:</a:t>
            </a:r>
          </a:p>
          <a:p>
            <a:pPr marL="914400" lvl="2" indent="0">
              <a:buNone/>
            </a:pPr>
            <a:r>
              <a:rPr lang="en-IN" dirty="0"/>
              <a:t> {</a:t>
            </a:r>
          </a:p>
          <a:p>
            <a:pPr marL="914400" lvl="2" indent="0">
              <a:buNone/>
            </a:pPr>
            <a:r>
              <a:rPr lang="en-IN" dirty="0"/>
              <a:t>    "</a:t>
            </a:r>
            <a:r>
              <a:rPr lang="en-IN" dirty="0" err="1"/>
              <a:t>typ</a:t>
            </a:r>
            <a:r>
              <a:rPr lang="en-IN" dirty="0"/>
              <a:t>":"JWT",</a:t>
            </a:r>
          </a:p>
          <a:p>
            <a:pPr marL="914400" lvl="2" indent="0">
              <a:buNone/>
            </a:pPr>
            <a:r>
              <a:rPr lang="en-IN" dirty="0"/>
              <a:t>    "alg":"HS256"</a:t>
            </a:r>
          </a:p>
          <a:p>
            <a:pPr marL="914400" lvl="2" indent="0">
              <a:buNone/>
            </a:pPr>
            <a:r>
              <a:rPr lang="en-IN" dirty="0"/>
              <a:t> 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87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F6A4D-65A4-67F3-36F3-A85FDDF53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JWT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7756-8F32-A949-677F-4E529EA24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220"/>
            <a:ext cx="10515600" cy="4910655"/>
          </a:xfrm>
        </p:spPr>
        <p:txBody>
          <a:bodyPr>
            <a:normAutofit fontScale="92500" lnSpcReduction="10000"/>
          </a:bodyPr>
          <a:lstStyle/>
          <a:p>
            <a:pPr algn="l" rtl="0" fontAlgn="base"/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Payload</a:t>
            </a:r>
          </a:p>
          <a:p>
            <a:pPr lvl="1" fontAlgn="base"/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A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ll the user data is actually added. 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data is also referred to as the ‘claims’ of the JWT.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Information is readable by anyone so </a:t>
            </a: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do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not put any confidential information in here. 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part generally contains user information. 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information is present as a JSON object then this JSON object is encoded to BASE64URL.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We can put as many claims as we want inside a payload, 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JWT with the payload will look something like this:</a:t>
            </a:r>
          </a:p>
          <a:p>
            <a:pPr marL="914400" lvl="2" indent="0" fontAlgn="base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{</a:t>
            </a:r>
          </a:p>
          <a:p>
            <a:pPr marL="914400" lvl="2" indent="0" fontAlgn="base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    "userId":"b07f85be-45da",</a:t>
            </a:r>
          </a:p>
          <a:p>
            <a:pPr marL="914400" lvl="2" indent="0" fontAlgn="base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    "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iss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": "https://provider.domain.com/",</a:t>
            </a:r>
          </a:p>
          <a:p>
            <a:pPr marL="914400" lvl="2" indent="0" fontAlgn="base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    "sub": "auth/some-hash-here",</a:t>
            </a:r>
          </a:p>
          <a:p>
            <a:pPr marL="914400" lvl="2" indent="0" fontAlgn="base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    "exp": 153452683</a:t>
            </a:r>
          </a:p>
          <a:p>
            <a:pPr marL="914400" lvl="2" indent="0" fontAlgn="base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419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17DD-BB0C-0FD1-1F55-CAE49650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JWT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06CA6-6F3A-E2F4-4427-27696BB59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Signature</a:t>
            </a:r>
          </a:p>
          <a:p>
            <a:pPr lvl="1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is the third part of JWT </a:t>
            </a:r>
          </a:p>
          <a:p>
            <a:pPr lvl="1"/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U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sed to verify the authenticity of token. </a:t>
            </a:r>
          </a:p>
          <a:p>
            <a:pPr lvl="1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BASE64URL encoded header and payload are joined together with dot(.) </a:t>
            </a:r>
          </a:p>
          <a:p>
            <a:pPr lvl="1"/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A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nd it is then hashed using the hashing algorithm defined in a header with a secret key. </a:t>
            </a:r>
          </a:p>
          <a:p>
            <a:pPr lvl="1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signature is then appended to header and payload using dot(.) which forms our actual token 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Nunito" pitchFamily="2" charset="0"/>
              </a:rPr>
              <a:t>header.payload.signature</a:t>
            </a:r>
            <a:endParaRPr lang="en-US" b="0" i="1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lvl="1"/>
            <a:r>
              <a:rPr lang="en-US" i="1" dirty="0">
                <a:solidFill>
                  <a:srgbClr val="273239"/>
                </a:solidFill>
                <a:latin typeface="Nunito" pitchFamily="2" charset="0"/>
              </a:rPr>
              <a:t>Syntax</a:t>
            </a:r>
          </a:p>
          <a:p>
            <a:pPr marL="457200" lvl="1" indent="0">
              <a:buNone/>
            </a:pP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HASHINGALGO( base64UrlEncode(header)+“.”+base64UrlEncode(payload),secret)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676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6E69-7717-3FD1-2019-B0959147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does a signature ensure authenticity?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5511-047E-C264-475E-5F1A4DDB0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301"/>
            <a:ext cx="10515600" cy="46666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0" i="0" dirty="0">
                <a:solidFill>
                  <a:srgbClr val="41484E"/>
                </a:solidFill>
                <a:effectLst/>
                <a:latin typeface="Barlow" panose="020F0502020204030204" pitchFamily="2" charset="0"/>
              </a:rPr>
              <a:t>A signature can only be created by someone possessing a secret key, and the original payload. </a:t>
            </a:r>
          </a:p>
          <a:p>
            <a:pPr algn="l"/>
            <a:r>
              <a:rPr lang="en-US" b="0" i="0" dirty="0">
                <a:solidFill>
                  <a:srgbClr val="41484E"/>
                </a:solidFill>
                <a:effectLst/>
                <a:latin typeface="Barlow" panose="020F0502020204030204" pitchFamily="2" charset="0"/>
              </a:rPr>
              <a:t>Signatures are generally formed by combining the data to be signed with a secret key</a:t>
            </a:r>
          </a:p>
          <a:p>
            <a:pPr lvl="1"/>
            <a:r>
              <a:rPr lang="en-US" dirty="0">
                <a:solidFill>
                  <a:srgbClr val="41484E"/>
                </a:solidFill>
                <a:latin typeface="Barlow" panose="020F0502020204030204" pitchFamily="2" charset="0"/>
              </a:rPr>
              <a:t>B</a:t>
            </a:r>
            <a:r>
              <a:rPr lang="en-US" b="0" i="0" dirty="0">
                <a:solidFill>
                  <a:srgbClr val="41484E"/>
                </a:solidFill>
                <a:effectLst/>
                <a:latin typeface="Barlow" panose="020F0502020204030204" pitchFamily="2" charset="0"/>
              </a:rPr>
              <a:t>y appending them together and hashing them (HS256), or </a:t>
            </a:r>
          </a:p>
          <a:p>
            <a:pPr lvl="1"/>
            <a:r>
              <a:rPr lang="en-US" dirty="0">
                <a:solidFill>
                  <a:srgbClr val="41484E"/>
                </a:solidFill>
                <a:latin typeface="Barlow" panose="020F0502020204030204" pitchFamily="2" charset="0"/>
              </a:rPr>
              <a:t>B</a:t>
            </a:r>
            <a:r>
              <a:rPr lang="en-US" b="0" i="0" dirty="0">
                <a:solidFill>
                  <a:srgbClr val="41484E"/>
                </a:solidFill>
                <a:effectLst/>
                <a:latin typeface="Barlow" panose="020F0502020204030204" pitchFamily="2" charset="0"/>
              </a:rPr>
              <a:t>y encrypting a representation of that data (a hash) using the secret key (RS256).</a:t>
            </a:r>
          </a:p>
          <a:p>
            <a:r>
              <a:rPr lang="en-IN" dirty="0"/>
              <a:t>HS256 </a:t>
            </a:r>
          </a:p>
          <a:p>
            <a:pPr lvl="1"/>
            <a:r>
              <a:rPr lang="en-IN" dirty="0"/>
              <a:t>Symmetric signing method</a:t>
            </a:r>
          </a:p>
          <a:p>
            <a:pPr lvl="1"/>
            <a:r>
              <a:rPr lang="en-IN" dirty="0"/>
              <a:t>Secret key is shared between the sender and the receiver</a:t>
            </a:r>
          </a:p>
          <a:p>
            <a:r>
              <a:rPr lang="en-IN" dirty="0"/>
              <a:t>RS256</a:t>
            </a:r>
          </a:p>
          <a:p>
            <a:pPr lvl="1"/>
            <a:r>
              <a:rPr lang="en-IN" dirty="0"/>
              <a:t>Asymmetric signing method</a:t>
            </a:r>
          </a:p>
          <a:p>
            <a:pPr lvl="1"/>
            <a:r>
              <a:rPr lang="en-IN" dirty="0"/>
              <a:t>Sender uses the private key and recipient uses the public key</a:t>
            </a:r>
          </a:p>
        </p:txBody>
      </p:sp>
    </p:spTree>
    <p:extLst>
      <p:ext uri="{BB962C8B-B14F-4D97-AF65-F5344CB8AC3E}">
        <p14:creationId xmlns:p14="http://schemas.microsoft.com/office/powerpoint/2010/main" val="104598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1614-7AE3-A7A0-EE93-3EB28ACC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JWT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CA62F-7268-EB7A-29F4-D8AC85572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know the structure refer</a:t>
            </a:r>
          </a:p>
          <a:p>
            <a:pPr lvl="1"/>
            <a:r>
              <a:rPr lang="en-IN" dirty="0"/>
              <a:t>www.jwt.io</a:t>
            </a:r>
          </a:p>
        </p:txBody>
      </p:sp>
    </p:spTree>
    <p:extLst>
      <p:ext uri="{BB962C8B-B14F-4D97-AF65-F5344CB8AC3E}">
        <p14:creationId xmlns:p14="http://schemas.microsoft.com/office/powerpoint/2010/main" val="267935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F2D52-7CA1-E45C-7B00-0455C054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Introducing JWT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A4CEB-509B-EBE7-2FC5-50B99235F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Steps</a:t>
            </a:r>
          </a:p>
          <a:p>
            <a:pPr lvl="1"/>
            <a:r>
              <a:rPr lang="en-IN" dirty="0"/>
              <a:t>Add Maven Dependencies</a:t>
            </a:r>
          </a:p>
          <a:p>
            <a:pPr lvl="1"/>
            <a:r>
              <a:rPr lang="en-IN" dirty="0"/>
              <a:t>Create </a:t>
            </a:r>
            <a:r>
              <a:rPr lang="en-IN" dirty="0" err="1"/>
              <a:t>JwtService</a:t>
            </a:r>
            <a:endParaRPr lang="en-IN" dirty="0"/>
          </a:p>
          <a:p>
            <a:pPr lvl="1"/>
            <a:r>
              <a:rPr lang="en-IN" dirty="0"/>
              <a:t>Create </a:t>
            </a:r>
            <a:r>
              <a:rPr lang="en-IN" dirty="0" err="1"/>
              <a:t>JwtAuthenticationFilter</a:t>
            </a:r>
            <a:endParaRPr lang="en-IN" dirty="0"/>
          </a:p>
          <a:p>
            <a:pPr lvl="1"/>
            <a:r>
              <a:rPr lang="en-IN" dirty="0"/>
              <a:t>Entry in </a:t>
            </a:r>
            <a:r>
              <a:rPr lang="en-IN" dirty="0" err="1"/>
              <a:t>SecurityConfig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.</a:t>
            </a:r>
            <a:r>
              <a:rPr lang="en-IN" dirty="0" err="1"/>
              <a:t>addFilterBefore</a:t>
            </a:r>
            <a:r>
              <a:rPr lang="en-IN" dirty="0"/>
              <a:t>(</a:t>
            </a:r>
            <a:r>
              <a:rPr lang="en-IN" dirty="0" err="1"/>
              <a:t>jwtAuthFilter</a:t>
            </a:r>
            <a:r>
              <a:rPr lang="en-IN" dirty="0"/>
              <a:t>, </a:t>
            </a:r>
            <a:r>
              <a:rPr lang="en-IN" dirty="0" err="1"/>
              <a:t>UsernamePasswordAuthenticationFilter.class</a:t>
            </a:r>
            <a:r>
              <a:rPr lang="en-IN" dirty="0"/>
              <a:t>);</a:t>
            </a:r>
          </a:p>
          <a:p>
            <a:pPr lvl="1"/>
            <a:r>
              <a:rPr lang="en-IN" dirty="0"/>
              <a:t>Entry in </a:t>
            </a:r>
            <a:r>
              <a:rPr lang="en-IN" dirty="0" err="1"/>
              <a:t>MyUserController</a:t>
            </a:r>
            <a:endParaRPr lang="en-IN" dirty="0"/>
          </a:p>
          <a:p>
            <a:pPr lvl="2"/>
            <a:r>
              <a:rPr lang="en-IN" dirty="0"/>
              <a:t>After successful authentication, generate the </a:t>
            </a:r>
            <a:r>
              <a:rPr lang="en-IN" dirty="0" err="1"/>
              <a:t>jwt</a:t>
            </a:r>
            <a:r>
              <a:rPr lang="en-IN" dirty="0"/>
              <a:t> token and return it as response.</a:t>
            </a:r>
          </a:p>
          <a:p>
            <a:pPr lvl="2"/>
            <a:r>
              <a:rPr lang="en-IN" dirty="0"/>
              <a:t>final String </a:t>
            </a:r>
            <a:r>
              <a:rPr lang="en-IN" dirty="0" err="1"/>
              <a:t>jwt</a:t>
            </a:r>
            <a:r>
              <a:rPr lang="en-IN" dirty="0"/>
              <a:t> = </a:t>
            </a:r>
            <a:r>
              <a:rPr lang="en-IN" dirty="0" err="1"/>
              <a:t>jwtService.generateToken</a:t>
            </a:r>
            <a:r>
              <a:rPr lang="en-IN" dirty="0"/>
              <a:t>(user);</a:t>
            </a:r>
          </a:p>
        </p:txBody>
      </p:sp>
    </p:spTree>
    <p:extLst>
      <p:ext uri="{BB962C8B-B14F-4D97-AF65-F5344CB8AC3E}">
        <p14:creationId xmlns:p14="http://schemas.microsoft.com/office/powerpoint/2010/main" val="404559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4E0B-EBCC-4D54-8906-923FE43F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with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42C5D-CA7A-4B2C-9DCE-E8BB6C498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 5. Spring_security_7_jwt_guide_with_code.txt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396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8402-2E69-4BEE-B15F-37B5D2C1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77580-BD03-4874-AD51-AC606212A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651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482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Barlow</vt:lpstr>
      <vt:lpstr>Calibri</vt:lpstr>
      <vt:lpstr>Calibri Light</vt:lpstr>
      <vt:lpstr>Nunito</vt:lpstr>
      <vt:lpstr>Office Theme</vt:lpstr>
      <vt:lpstr>Spring Security 7 </vt:lpstr>
      <vt:lpstr>Deep Dive</vt:lpstr>
      <vt:lpstr>What is JWT?</vt:lpstr>
      <vt:lpstr>JWT Structure</vt:lpstr>
      <vt:lpstr>JWT Structure</vt:lpstr>
      <vt:lpstr>JWT Structure</vt:lpstr>
      <vt:lpstr>How does a signature ensure authenticity?</vt:lpstr>
      <vt:lpstr>JWT Structure</vt:lpstr>
      <vt:lpstr>Introducing JWT</vt:lpstr>
      <vt:lpstr>Steps with code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Security 7</dc:title>
  <dc:creator>DELL</dc:creator>
  <cp:lastModifiedBy>DELL</cp:lastModifiedBy>
  <cp:revision>6</cp:revision>
  <dcterms:created xsi:type="dcterms:W3CDTF">2026-08-27T15:15:42Z</dcterms:created>
  <dcterms:modified xsi:type="dcterms:W3CDTF">2026-08-27T16:20:17Z</dcterms:modified>
</cp:coreProperties>
</file>