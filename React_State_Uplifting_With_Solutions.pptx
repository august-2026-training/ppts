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F1F5F9"/>
                </a:solidFill>
                <a:latin typeface="Arial"/>
              </a:defRPr>
            </a:pPr>
            <a:r>
              <a:t>React State Uplifting &amp; Solutions</a:t>
            </a:r>
          </a:p>
          <a:p>
            <a:pPr>
              <a:spcBef>
                <a:spcPts val="2000"/>
              </a:spcBef>
              <a:defRPr sz="2000">
                <a:solidFill>
                  <a:srgbClr val="64748B"/>
                </a:solidFill>
                <a:latin typeface="Arial"/>
              </a:defRPr>
            </a:pPr>
            <a:r>
              <a:t>From Broken Component Communication to Clean Shared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The Practical Problem: Components Are Blind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2563EB"/>
                </a:solidFill>
              </a:defRPr>
            </a:pPr>
            <a:r>
              <a:t>The Scenario:</a:t>
            </a:r>
          </a:p>
          <a:p>
            <a:pPr>
              <a:spcBef>
                <a:spcPts val="1000"/>
              </a:spcBef>
              <a:defRPr sz="2000">
                <a:solidFill>
                  <a:srgbClr val="0F172A"/>
                </a:solidFill>
              </a:defRPr>
            </a:pPr>
            <a:r>
              <a:t>You have an &lt;InputBox /&gt; where a user types text, and a &lt;Previewer /&gt; that needs to display that text instantly.</a:t>
            </a:r>
          </a:p>
          <a:p>
            <a:pPr>
              <a:spcBef>
                <a:spcPts val="3000"/>
              </a:spcBef>
              <a:defRPr b="1" sz="2400">
                <a:solidFill>
                  <a:srgbClr val="2563EB"/>
                </a:solidFill>
              </a:defRPr>
            </a:pPr>
            <a:r>
              <a:t>The Core Issue:</a:t>
            </a:r>
          </a:p>
          <a:p>
            <a:pPr>
              <a:spcBef>
                <a:spcPts val="1000"/>
              </a:spcBef>
              <a:defRPr sz="2000">
                <a:solidFill>
                  <a:srgbClr val="0F172A"/>
                </a:solidFill>
              </a:defRPr>
            </a:pPr>
            <a:r>
              <a:t>• Because they are sibling components, they cannot talk to each other horizontally.</a:t>
            </a:r>
            <a:br/>
            <a:r>
              <a:t>• Data in React can only flow downwards (Unidirectional Data Flow).</a:t>
            </a:r>
            <a:br/>
            <a:r>
              <a:t>• When a user types into the input box, the preview window stays blank.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The Concept: Lifting State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2563EB"/>
                </a:solidFill>
              </a:defRPr>
            </a:pPr>
            <a:r>
              <a:t>The Analogy:</a:t>
            </a:r>
          </a:p>
          <a:p>
            <a:pPr>
              <a:spcBef>
                <a:spcPts val="1000"/>
              </a:spcBef>
              <a:defRPr sz="2000">
                <a:solidFill>
                  <a:srgbClr val="0F172A"/>
                </a:solidFill>
              </a:defRPr>
            </a:pPr>
            <a:r>
              <a:t>Instead of trying to pass a message from one locked private bedroom to another, you move the message out into the shared family living room where everyone can see it.</a:t>
            </a:r>
          </a:p>
          <a:p>
            <a:pPr>
              <a:spcBef>
                <a:spcPts val="3000"/>
              </a:spcBef>
              <a:defRPr b="1" sz="2400">
                <a:solidFill>
                  <a:srgbClr val="2563EB"/>
                </a:solidFill>
              </a:defRPr>
            </a:pPr>
            <a:r>
              <a:t>The Strategy:</a:t>
            </a:r>
          </a:p>
          <a:p>
            <a:pPr>
              <a:spcBef>
                <a:spcPts val="1000"/>
              </a:spcBef>
              <a:defRPr sz="2000">
                <a:solidFill>
                  <a:srgbClr val="0F172A"/>
                </a:solidFill>
              </a:defRPr>
            </a:pPr>
            <a:r>
              <a:t>• Remove the useState hook from the isolated input box child component.</a:t>
            </a:r>
            <a:br/>
            <a:r>
              <a:t>• Move it up into their common &lt;Parent /&gt; component.</a:t>
            </a:r>
            <a:br/>
            <a:r>
              <a:t>• The parent now becomes the Single Source of Truth for that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Step 1 of Solution: The Common Parent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2563EB"/>
                </a:solidFill>
              </a:defRPr>
            </a:pPr>
            <a:r>
              <a:t>Initialize State at the Top Layer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The parent component initializes the dynamic state and coordinates the flow of information between its child elements.</a:t>
            </a:r>
          </a:p>
          <a:p>
            <a:pPr>
              <a:spcBef>
                <a:spcPts val="2500"/>
              </a:spcBef>
              <a:defRPr b="1" sz="2000">
                <a:solidFill>
                  <a:srgbClr val="0F172A"/>
                </a:solidFill>
              </a:defRPr>
            </a:pPr>
            <a:r>
              <a:t>Code Implementation: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Courier New"/>
              </a:defRPr>
            </a:pPr>
            <a:r>
              <a:t>function ParentApp() {</a:t>
            </a:r>
            <a:br/>
            <a:r>
              <a:t>  const [text, setText] = useState("");</a:t>
            </a:r>
            <a:br/>
            <a:br/>
            <a:r>
              <a:t>  return (</a:t>
            </a:r>
            <a:br/>
            <a:r>
              <a:t>    &lt;div&gt;</a:t>
            </a:r>
            <a:br/>
            <a:r>
              <a:t>      &lt;InputComponent onTextChange={setText} /&gt;</a:t>
            </a:r>
            <a:br/>
            <a:r>
              <a:t>      &lt;PreviewComponent text={text} /&gt;</a:t>
            </a:r>
            <a:br/>
            <a:r>
              <a:t>    &lt;/div&gt;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Step 2 of Solution: Passing the Remote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2563EB"/>
                </a:solidFill>
              </a:defRPr>
            </a:pPr>
            <a:r>
              <a:t>The Sender Component (Child A)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The parent passes down the updater function (setText) as a custom prop function. This acts like a remote control given to Child A to modify the parent's data.</a:t>
            </a:r>
          </a:p>
          <a:p>
            <a:pPr>
              <a:spcBef>
                <a:spcPts val="2500"/>
              </a:spcBef>
              <a:defRPr b="1" sz="2000">
                <a:solidFill>
                  <a:srgbClr val="0F172A"/>
                </a:solidFill>
              </a:defRPr>
            </a:pPr>
            <a:r>
              <a:t>Code Implementation: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Courier New"/>
              </a:defRPr>
            </a:pPr>
            <a:r>
              <a:t>function InputComponent({ onTextChange }) {</a:t>
            </a:r>
            <a:br/>
            <a:r>
              <a:t>  return (</a:t>
            </a:r>
            <a:br/>
            <a:r>
              <a:t>    &lt;input </a:t>
            </a:r>
            <a:br/>
            <a:r>
              <a:t>      type="text" </a:t>
            </a:r>
            <a:br/>
            <a:r>
              <a:t>      onChange={(e) =&gt; onTextChange(e.target.value)} </a:t>
            </a:r>
            <a:br/>
            <a:r>
              <a:t>      placeholder="Type here..."</a:t>
            </a:r>
            <a:br/>
            <a:r>
              <a:t>    /&gt;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Step 3 of Solution: Passing the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2563EB"/>
                </a:solidFill>
              </a:defRPr>
            </a:pPr>
            <a:r>
              <a:t>The Receiver Component (Child B)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The parent passes down the raw data value as a read-only prop. This acts like a viewing screen given to Child B that displays updates in real-time.</a:t>
            </a:r>
          </a:p>
          <a:p>
            <a:pPr>
              <a:spcBef>
                <a:spcPts val="2500"/>
              </a:spcBef>
              <a:defRPr b="1" sz="2000">
                <a:solidFill>
                  <a:srgbClr val="0F172A"/>
                </a:solidFill>
              </a:defRPr>
            </a:pPr>
            <a:r>
              <a:t>Code Implementation: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Courier New"/>
              </a:defRPr>
            </a:pPr>
            <a:r>
              <a:t>function PreviewComponent({ text }) {</a:t>
            </a:r>
            <a:br/>
            <a:r>
              <a:t>  return (</a:t>
            </a:r>
            <a:br/>
            <a:r>
              <a:t>    &lt;p&gt;Live Preview: {text}&lt;/p&gt;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The Complete Blueprint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Courier New"/>
              </a:defRPr>
            </a:pPr>
            <a:r>
              <a:t>import { useState } from 'react';</a:t>
            </a:r>
            <a:br/>
            <a:br/>
            <a:r>
              <a:t>function ParentApp() {</a:t>
            </a:r>
            <a:br/>
            <a:r>
              <a:t>  const [text, setText] = useState("");</a:t>
            </a:r>
            <a:br/>
            <a:r>
              <a:t>  return (</a:t>
            </a:r>
            <a:br/>
            <a:r>
              <a:t>    &lt;div&gt;</a:t>
            </a:r>
            <a:br/>
            <a:r>
              <a:t>      &lt;InputComponent onTextChange={setText} /&gt;</a:t>
            </a:r>
            <a:br/>
            <a:r>
              <a:t>      &lt;PreviewComponent text={text} /&gt;</a:t>
            </a:r>
            <a:br/>
            <a:r>
              <a:t>    &lt;/div&gt;</a:t>
            </a:r>
            <a:br/>
            <a:r>
              <a:t>  );</a:t>
            </a:r>
            <a:br/>
            <a:r>
              <a:t>}</a:t>
            </a:r>
            <a:br/>
            <a:br/>
            <a:r>
              <a:t>function InputComponent({ onTextChange }) {</a:t>
            </a:r>
            <a:br/>
            <a:r>
              <a:t>  return &lt;input type="text" onChange={(e) =&gt; onTextChange(e.target.value)} /&gt;;</a:t>
            </a:r>
            <a:br/>
            <a:r>
              <a:t>}</a:t>
            </a:r>
            <a:br/>
            <a:br/>
            <a:r>
              <a:t>function PreviewComponent({ text }) {</a:t>
            </a:r>
            <a:br/>
            <a:r>
              <a:t>  return &lt;p&gt;Live Preview: {text}&lt;/p&gt;;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Scaling Fix #1: The Context Intercom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2563EB"/>
                </a:solidFill>
              </a:defRPr>
            </a:pPr>
            <a:r>
              <a:t>Solving the Prop Drilling Problem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When components are 5 to 10 levels deep, passing props manually through middle components gets messy. React Context acts like a house intercom, allowing deep components to broadcast directly to each other.</a:t>
            </a:r>
          </a:p>
          <a:p>
            <a:pPr>
              <a:spcBef>
                <a:spcPts val="2500"/>
              </a:spcBef>
              <a:defRPr b="1" sz="2000">
                <a:solidFill>
                  <a:srgbClr val="0F172A"/>
                </a:solidFill>
              </a:defRPr>
            </a:pPr>
            <a:r>
              <a:t>Code Snippet:</a:t>
            </a:r>
          </a:p>
          <a:p>
            <a:pPr>
              <a:spcBef>
                <a:spcPts val="1000"/>
              </a:spcBef>
              <a:defRPr sz="1500">
                <a:solidFill>
                  <a:srgbClr val="0F172A"/>
                </a:solidFill>
                <a:latin typeface="Courier New"/>
              </a:defRPr>
            </a:pPr>
            <a:r>
              <a:t>const TextContext = createContext();</a:t>
            </a:r>
            <a:br/>
            <a:br/>
            <a:r>
              <a:t>// Provider wraps the tree</a:t>
            </a:r>
            <a:br/>
            <a:r>
              <a:t>&lt;TextContext.Provider value={{ text, setText }}&gt;</a:t>
            </a:r>
            <a:br/>
            <a:r>
              <a:t>  &lt;DeepChildComponent /&gt;</a:t>
            </a:r>
            <a:br/>
            <a:r>
              <a:t>&lt;/TextContext.Provider&gt;</a:t>
            </a:r>
            <a:br/>
            <a:br/>
            <a:r>
              <a:t>// Consumer updates directly anywhere below</a:t>
            </a:r>
            <a:br/>
            <a:r>
              <a:t>const { text, setText } = useContext(TextContext);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Scaling Fix #2: Global Stores (Zustand)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2563EB"/>
                </a:solidFill>
              </a:defRPr>
            </a:pPr>
            <a:r>
              <a:t>Decoupling State from the Visual UI Tree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For massive applications, moving data logic completely outside of the visual layout elements keeps files clean and improves runtime speed.</a:t>
            </a:r>
          </a:p>
          <a:p>
            <a:pPr>
              <a:spcBef>
                <a:spcPts val="2500"/>
              </a:spcBef>
              <a:defRPr b="1" sz="2000">
                <a:solidFill>
                  <a:srgbClr val="0F172A"/>
                </a:solidFill>
              </a:defRPr>
            </a:pPr>
            <a:r>
              <a:t>Code Snippet:</a:t>
            </a:r>
          </a:p>
          <a:p>
            <a:pPr>
              <a:spcBef>
                <a:spcPts val="1000"/>
              </a:spcBef>
              <a:defRPr sz="1500">
                <a:solidFill>
                  <a:srgbClr val="0F172A"/>
                </a:solidFill>
                <a:latin typeface="Courier New"/>
              </a:defRPr>
            </a:pPr>
            <a:r>
              <a:t>import { create } from 'zustand';</a:t>
            </a:r>
            <a:br/>
            <a:br/>
            <a:r>
              <a:t>const useTextStore = create((set) =&gt; ({</a:t>
            </a:r>
            <a:br/>
            <a:r>
              <a:t>  text: '',</a:t>
            </a:r>
            <a:br/>
            <a:r>
              <a:t>  setText: (newText) =&gt; set({ text: newText }),</a:t>
            </a:r>
            <a:br/>
            <a:r>
              <a:t>}));</a:t>
            </a:r>
            <a:br/>
            <a:br/>
            <a:r>
              <a:t>// Use anywhere with zero prop drilling</a:t>
            </a:r>
            <a:br/>
            <a:r>
              <a:t>const { text, setText } = useTextStore();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rial"/>
              </a:defRPr>
            </a:pPr>
            <a:r>
              <a:t>Summary Architecture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1F5F9"/>
                </a:solidFill>
              </a:defRPr>
            </a:pPr>
            <a:r>
              <a:t>Choose the Right Tool for the Job:</a:t>
            </a:r>
          </a:p>
          <a:p>
            <a:pPr>
              <a:spcBef>
                <a:spcPts val="2000"/>
              </a:spcBef>
              <a:defRPr sz="2000">
                <a:solidFill>
                  <a:srgbClr val="F1F5F9"/>
                </a:solidFill>
              </a:defRPr>
            </a:pPr>
            <a:r>
              <a:t>• Small Apps (1-3 levels deep): Use Standard State Uplifting (Props &amp; Callbacks).</a:t>
            </a:r>
          </a:p>
          <a:p>
            <a:pPr>
              <a:spcBef>
                <a:spcPts val="1500"/>
              </a:spcBef>
              <a:defRPr sz="2000">
                <a:solidFill>
                  <a:srgbClr val="F1F5F9"/>
                </a:solidFill>
              </a:defRPr>
            </a:pPr>
            <a:r>
              <a:t>• Medium Apps (Global features): Use Context API (Best for Themes, User Auth sessions).</a:t>
            </a:r>
          </a:p>
          <a:p>
            <a:pPr>
              <a:spcBef>
                <a:spcPts val="1500"/>
              </a:spcBef>
              <a:defRPr sz="2000">
                <a:solidFill>
                  <a:srgbClr val="F1F5F9"/>
                </a:solidFill>
              </a:defRPr>
            </a:pPr>
            <a:r>
              <a:t>• Complex Apps (High-frequency changes): Use Global Stores like Zustand or Redux Toolkit.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